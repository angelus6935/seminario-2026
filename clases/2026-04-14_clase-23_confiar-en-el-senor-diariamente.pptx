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Roboto" panose="02000000000000000000" pitchFamily="2" charset="0"/>
      <p:regular r:id="rId13"/>
      <p:bold r:id="rId14"/>
      <p:italic r:id="rId15"/>
    </p:embeddedFont>
    <p:embeddedFont>
      <p:font typeface="Roboto Slab" pitchFamily="2" charset="0"/>
      <p:regular r:id="rId16"/>
    </p:embeddedFont>
  </p:embeddedFontLst>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4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5247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269212"/>
            <a:ext cx="6521529" cy="620078"/>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Éxodo 16: El pan de cada día</a:t>
            </a:r>
            <a:endParaRPr lang="en-US" sz="3900" dirty="0"/>
          </a:p>
        </p:txBody>
      </p:sp>
      <p:sp>
        <p:nvSpPr>
          <p:cNvPr id="4" name="Text 1"/>
          <p:cNvSpPr/>
          <p:nvPr/>
        </p:nvSpPr>
        <p:spPr>
          <a:xfrm>
            <a:off x="793790" y="3186946"/>
            <a:ext cx="7556421" cy="1711642"/>
          </a:xfrm>
          <a:prstGeom prst="rect">
            <a:avLst/>
          </a:prstGeom>
          <a:noFill/>
          <a:ln/>
        </p:spPr>
        <p:txBody>
          <a:bodyPr wrap="square" lIns="0" tIns="0" rIns="0" bIns="0" rtlCol="0" anchor="t"/>
          <a:lstStyle/>
          <a:p>
            <a:pPr marL="0" indent="0" algn="l">
              <a:lnSpc>
                <a:spcPts val="6700"/>
              </a:lnSpc>
              <a:buNone/>
            </a:pPr>
            <a:r>
              <a:rPr lang="en-US" sz="5350" dirty="0">
                <a:solidFill>
                  <a:srgbClr val="76B9FF"/>
                </a:solidFill>
                <a:latin typeface="Roboto Slab" pitchFamily="34" charset="0"/>
                <a:ea typeface="Roboto Slab" pitchFamily="34" charset="-122"/>
                <a:cs typeface="Roboto Slab" pitchFamily="34" charset="-120"/>
              </a:rPr>
              <a:t>Confiar en el Señor diariamente</a:t>
            </a:r>
            <a:endParaRPr lang="en-US" sz="5350" dirty="0"/>
          </a:p>
        </p:txBody>
      </p:sp>
      <p:sp>
        <p:nvSpPr>
          <p:cNvPr id="5" name="Text 2"/>
          <p:cNvSpPr/>
          <p:nvPr/>
        </p:nvSpPr>
        <p:spPr>
          <a:xfrm>
            <a:off x="1091446" y="5419487"/>
            <a:ext cx="7258764" cy="317540"/>
          </a:xfrm>
          <a:prstGeom prst="rect">
            <a:avLst/>
          </a:prstGeom>
          <a:noFill/>
          <a:ln/>
        </p:spPr>
        <p:txBody>
          <a:bodyPr wrap="none" lIns="0" tIns="0" rIns="0" bIns="0" rtlCol="0" anchor="t"/>
          <a:lstStyle/>
          <a:p>
            <a:pPr marL="0" indent="0" algn="l">
              <a:lnSpc>
                <a:spcPts val="2500"/>
              </a:lnSpc>
              <a:buNone/>
            </a:pPr>
            <a:r>
              <a:rPr lang="en-US" sz="1550" b="1" dirty="0">
                <a:solidFill>
                  <a:srgbClr val="D6E5EF"/>
                </a:solidFill>
                <a:latin typeface="Roboto" pitchFamily="34" charset="0"/>
                <a:ea typeface="Roboto" pitchFamily="34" charset="-122"/>
                <a:cs typeface="Roboto" pitchFamily="34" charset="-120"/>
              </a:rPr>
              <a:t>«Dios no da todo junto; da lo necesario cada día.»</a:t>
            </a:r>
            <a:endParaRPr lang="en-US" sz="1550" dirty="0"/>
          </a:p>
        </p:txBody>
      </p:sp>
      <p:sp>
        <p:nvSpPr>
          <p:cNvPr id="6" name="Shape 3"/>
          <p:cNvSpPr/>
          <p:nvPr/>
        </p:nvSpPr>
        <p:spPr>
          <a:xfrm>
            <a:off x="793790" y="5196245"/>
            <a:ext cx="22860" cy="764024"/>
          </a:xfrm>
          <a:prstGeom prst="rect">
            <a:avLst/>
          </a:prstGeom>
          <a:solidFill>
            <a:srgbClr val="66A8E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Shape 0"/>
          <p:cNvSpPr/>
          <p:nvPr/>
        </p:nvSpPr>
        <p:spPr>
          <a:xfrm>
            <a:off x="6280190" y="1713071"/>
            <a:ext cx="1892975" cy="373142"/>
          </a:xfrm>
          <a:prstGeom prst="roundRect">
            <a:avLst>
              <a:gd name="adj" fmla="val 6383"/>
            </a:avLst>
          </a:prstGeom>
          <a:solidFill>
            <a:srgbClr val="082545"/>
          </a:solidFill>
          <a:ln/>
        </p:spPr>
      </p:sp>
      <p:sp>
        <p:nvSpPr>
          <p:cNvPr id="4" name="Text 1"/>
          <p:cNvSpPr/>
          <p:nvPr/>
        </p:nvSpPr>
        <p:spPr>
          <a:xfrm>
            <a:off x="6399252" y="1772603"/>
            <a:ext cx="1654850" cy="254079"/>
          </a:xfrm>
          <a:prstGeom prst="rect">
            <a:avLst/>
          </a:prstGeom>
          <a:noFill/>
          <a:ln/>
        </p:spPr>
        <p:txBody>
          <a:bodyPr wrap="none" lIns="0" tIns="0" rIns="0" bIns="0" rtlCol="0" anchor="t"/>
          <a:lstStyle/>
          <a:p>
            <a:pPr marL="0" indent="0" algn="l">
              <a:lnSpc>
                <a:spcPts val="2000"/>
              </a:lnSpc>
              <a:buNone/>
            </a:pPr>
            <a:r>
              <a:rPr lang="en-US" sz="1250" dirty="0">
                <a:solidFill>
                  <a:srgbClr val="D6E5EF"/>
                </a:solidFill>
                <a:latin typeface="Roboto" pitchFamily="34" charset="0"/>
                <a:ea typeface="Roboto" pitchFamily="34" charset="-122"/>
                <a:cs typeface="Roboto" pitchFamily="34" charset="-120"/>
              </a:rPr>
              <a:t>CONTEXTO HISTÓRICO</a:t>
            </a:r>
            <a:endParaRPr lang="en-US" sz="1250" dirty="0"/>
          </a:p>
        </p:txBody>
      </p:sp>
      <p:sp>
        <p:nvSpPr>
          <p:cNvPr id="5" name="Text 2"/>
          <p:cNvSpPr/>
          <p:nvPr/>
        </p:nvSpPr>
        <p:spPr>
          <a:xfrm>
            <a:off x="6280190" y="2165509"/>
            <a:ext cx="5923598" cy="620078"/>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La libertad exige fe diaria</a:t>
            </a:r>
            <a:endParaRPr lang="en-US" sz="3900" dirty="0"/>
          </a:p>
        </p:txBody>
      </p:sp>
      <p:sp>
        <p:nvSpPr>
          <p:cNvPr id="6" name="Text 3"/>
          <p:cNvSpPr/>
          <p:nvPr/>
        </p:nvSpPr>
        <p:spPr>
          <a:xfrm>
            <a:off x="6280190" y="3083243"/>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Después de salir de Egipto, el pueblo de Israel se encontró en una situación que no había anticipado: el hambre y la sed en medio del desierto. Ya no podían depender de las ollas de carne que tenían en Egipto. Habían sido liberados, sí, pero la libertad verdadera exige algo más profundo: </a:t>
            </a:r>
            <a:r>
              <a:rPr lang="en-US" sz="1550" b="1" dirty="0">
                <a:solidFill>
                  <a:srgbClr val="D6E5EF"/>
                </a:solidFill>
                <a:latin typeface="Roboto" pitchFamily="34" charset="0"/>
                <a:ea typeface="Roboto" pitchFamily="34" charset="-122"/>
                <a:cs typeface="Roboto" pitchFamily="34" charset="-120"/>
              </a:rPr>
              <a:t>aprender a depender de Dios</a:t>
            </a:r>
            <a:r>
              <a:rPr lang="en-US" sz="1550" dirty="0">
                <a:solidFill>
                  <a:srgbClr val="D6E5EF"/>
                </a:solidFill>
                <a:latin typeface="Roboto" pitchFamily="34" charset="0"/>
                <a:ea typeface="Roboto" pitchFamily="34" charset="-122"/>
                <a:cs typeface="Roboto" pitchFamily="34" charset="-120"/>
              </a:rPr>
              <a:t>.</a:t>
            </a:r>
            <a:endParaRPr lang="en-US" sz="1550" dirty="0"/>
          </a:p>
        </p:txBody>
      </p:sp>
      <p:sp>
        <p:nvSpPr>
          <p:cNvPr id="7" name="Text 4"/>
          <p:cNvSpPr/>
          <p:nvPr/>
        </p:nvSpPr>
        <p:spPr>
          <a:xfrm>
            <a:off x="6577846" y="4799886"/>
            <a:ext cx="7258764" cy="635079"/>
          </a:xfrm>
          <a:prstGeom prst="rect">
            <a:avLst/>
          </a:prstGeom>
          <a:noFill/>
          <a:ln/>
        </p:spPr>
        <p:txBody>
          <a:bodyPr wrap="square" lIns="0" tIns="0" rIns="0" bIns="0" rtlCol="0" anchor="t"/>
          <a:lstStyle/>
          <a:p>
            <a:pPr marL="0" indent="0" algn="l">
              <a:lnSpc>
                <a:spcPts val="2500"/>
              </a:lnSpc>
              <a:buNone/>
            </a:pPr>
            <a:r>
              <a:rPr lang="en-US" sz="1550" i="1" dirty="0">
                <a:solidFill>
                  <a:srgbClr val="D6E5EF"/>
                </a:solidFill>
                <a:latin typeface="Roboto" pitchFamily="34" charset="0"/>
                <a:ea typeface="Roboto" pitchFamily="34" charset="-122"/>
                <a:cs typeface="Roboto" pitchFamily="34" charset="-120"/>
              </a:rPr>
              <a:t>«Y murmuró toda la congregación de los hijos de Israel contra Moisés y Aarón en el desierto.»</a:t>
            </a:r>
            <a:r>
              <a:rPr lang="en-US" sz="1550" dirty="0">
                <a:solidFill>
                  <a:srgbClr val="D6E5EF"/>
                </a:solidFill>
                <a:latin typeface="Roboto" pitchFamily="34" charset="0"/>
                <a:ea typeface="Roboto" pitchFamily="34" charset="-122"/>
                <a:cs typeface="Roboto" pitchFamily="34" charset="-120"/>
              </a:rPr>
              <a:t> — </a:t>
            </a:r>
            <a:r>
              <a:rPr lang="en-US" sz="1550" b="1" dirty="0">
                <a:solidFill>
                  <a:srgbClr val="D6E5EF"/>
                </a:solidFill>
                <a:latin typeface="Roboto" pitchFamily="34" charset="0"/>
                <a:ea typeface="Roboto" pitchFamily="34" charset="-122"/>
                <a:cs typeface="Roboto" pitchFamily="34" charset="-120"/>
              </a:rPr>
              <a:t>Éxodo 16:2–3</a:t>
            </a:r>
            <a:endParaRPr lang="en-US" sz="1550" dirty="0"/>
          </a:p>
        </p:txBody>
      </p:sp>
      <p:sp>
        <p:nvSpPr>
          <p:cNvPr id="8" name="Shape 5"/>
          <p:cNvSpPr/>
          <p:nvPr/>
        </p:nvSpPr>
        <p:spPr>
          <a:xfrm>
            <a:off x="6280190" y="4576643"/>
            <a:ext cx="22860" cy="1081564"/>
          </a:xfrm>
          <a:prstGeom prst="rect">
            <a:avLst/>
          </a:prstGeom>
          <a:solidFill>
            <a:srgbClr val="66A8EE"/>
          </a:solidFill>
          <a:ln/>
        </p:spPr>
      </p:sp>
      <p:sp>
        <p:nvSpPr>
          <p:cNvPr id="9" name="Text 6"/>
          <p:cNvSpPr/>
          <p:nvPr/>
        </p:nvSpPr>
        <p:spPr>
          <a:xfrm>
            <a:off x="6280190" y="5881449"/>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La murmuración revela el corazón humano: tendemos a añorar lo conocido, aunque sea esclavitud, antes que confiar en lo desconocido, aunque sea provisión divina.</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362194"/>
            <a:ext cx="1376482" cy="373142"/>
          </a:xfrm>
          <a:prstGeom prst="roundRect">
            <a:avLst>
              <a:gd name="adj" fmla="val 6383"/>
            </a:avLst>
          </a:prstGeom>
          <a:solidFill>
            <a:srgbClr val="082545"/>
          </a:solidFill>
          <a:ln/>
        </p:spPr>
      </p:sp>
      <p:sp>
        <p:nvSpPr>
          <p:cNvPr id="3" name="Text 1"/>
          <p:cNvSpPr/>
          <p:nvPr/>
        </p:nvSpPr>
        <p:spPr>
          <a:xfrm>
            <a:off x="912852" y="1421725"/>
            <a:ext cx="1138357" cy="254079"/>
          </a:xfrm>
          <a:prstGeom prst="rect">
            <a:avLst/>
          </a:prstGeom>
          <a:noFill/>
          <a:ln/>
        </p:spPr>
        <p:txBody>
          <a:bodyPr wrap="none" lIns="0" tIns="0" rIns="0" bIns="0" rtlCol="0" anchor="t"/>
          <a:lstStyle/>
          <a:p>
            <a:pPr marL="0" indent="0" algn="l">
              <a:lnSpc>
                <a:spcPts val="2000"/>
              </a:lnSpc>
              <a:buNone/>
            </a:pPr>
            <a:r>
              <a:rPr lang="en-US" sz="1250" dirty="0">
                <a:solidFill>
                  <a:srgbClr val="D6E5EF"/>
                </a:solidFill>
                <a:latin typeface="Roboto" pitchFamily="34" charset="0"/>
                <a:ea typeface="Roboto" pitchFamily="34" charset="-122"/>
                <a:cs typeface="Roboto" pitchFamily="34" charset="-120"/>
              </a:rPr>
              <a:t>ÉXODO 16:4–15</a:t>
            </a:r>
            <a:endParaRPr lang="en-US" sz="1250" dirty="0"/>
          </a:p>
        </p:txBody>
      </p:sp>
      <p:sp>
        <p:nvSpPr>
          <p:cNvPr id="4" name="Text 2"/>
          <p:cNvSpPr/>
          <p:nvPr/>
        </p:nvSpPr>
        <p:spPr>
          <a:xfrm>
            <a:off x="793790" y="1814632"/>
            <a:ext cx="6120289" cy="620078"/>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El maná: la prueba de la fe</a:t>
            </a:r>
            <a:endParaRPr lang="en-US" sz="3900" dirty="0"/>
          </a:p>
        </p:txBody>
      </p:sp>
      <p:sp>
        <p:nvSpPr>
          <p:cNvPr id="5" name="Shape 3"/>
          <p:cNvSpPr/>
          <p:nvPr/>
        </p:nvSpPr>
        <p:spPr>
          <a:xfrm>
            <a:off x="650915" y="2732365"/>
            <a:ext cx="6565106" cy="4134922"/>
          </a:xfrm>
          <a:prstGeom prst="roundRect">
            <a:avLst>
              <a:gd name="adj" fmla="val 720"/>
            </a:avLst>
          </a:prstGeom>
          <a:solidFill>
            <a:srgbClr val="66A8EE"/>
          </a:solidFill>
          <a:ln/>
        </p:spPr>
      </p:sp>
      <p:sp>
        <p:nvSpPr>
          <p:cNvPr id="6" name="Text 4"/>
          <p:cNvSpPr/>
          <p:nvPr/>
        </p:nvSpPr>
        <p:spPr>
          <a:xfrm>
            <a:off x="849273" y="293072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Roboto Slab" pitchFamily="34" charset="0"/>
                <a:ea typeface="Roboto Slab" pitchFamily="34" charset="-122"/>
                <a:cs typeface="Roboto Slab" pitchFamily="34" charset="-120"/>
              </a:rPr>
              <a:t>La promesa de Dios</a:t>
            </a:r>
            <a:endParaRPr lang="en-US" sz="1950" dirty="0"/>
          </a:p>
        </p:txBody>
      </p:sp>
      <p:sp>
        <p:nvSpPr>
          <p:cNvPr id="7" name="Text 5"/>
          <p:cNvSpPr/>
          <p:nvPr/>
        </p:nvSpPr>
        <p:spPr>
          <a:xfrm>
            <a:off x="849273" y="3439239"/>
            <a:ext cx="6168390" cy="635079"/>
          </a:xfrm>
          <a:prstGeom prst="rect">
            <a:avLst/>
          </a:prstGeom>
          <a:noFill/>
          <a:ln/>
        </p:spPr>
        <p:txBody>
          <a:bodyPr wrap="square" lIns="0" tIns="0" rIns="0" bIns="0" rtlCol="0" anchor="t"/>
          <a:lstStyle/>
          <a:p>
            <a:pPr marL="0" indent="0" algn="l">
              <a:lnSpc>
                <a:spcPts val="2500"/>
              </a:lnSpc>
              <a:buNone/>
            </a:pPr>
            <a:r>
              <a:rPr lang="en-US" sz="1550" i="1" dirty="0">
                <a:solidFill>
                  <a:srgbClr val="000000"/>
                </a:solidFill>
                <a:latin typeface="Roboto" pitchFamily="34" charset="0"/>
                <a:ea typeface="Roboto" pitchFamily="34" charset="-122"/>
                <a:cs typeface="Roboto" pitchFamily="34" charset="-120"/>
              </a:rPr>
              <a:t>«Cada día recogerá el pueblo lo necesario para el día, para probarlos si andan en mi ley o no.»</a:t>
            </a:r>
            <a:endParaRPr lang="en-US" sz="1550" dirty="0"/>
          </a:p>
        </p:txBody>
      </p:sp>
      <p:sp>
        <p:nvSpPr>
          <p:cNvPr id="8" name="Text 6"/>
          <p:cNvSpPr/>
          <p:nvPr/>
        </p:nvSpPr>
        <p:spPr>
          <a:xfrm>
            <a:off x="849273" y="4252913"/>
            <a:ext cx="6168390"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Roboto" pitchFamily="34" charset="0"/>
                <a:ea typeface="Roboto" pitchFamily="34" charset="-122"/>
                <a:cs typeface="Roboto" pitchFamily="34" charset="-120"/>
              </a:rPr>
              <a:t>Dios no respondió a la murmuración con reproche, sino con provisión. Cada mañana, el desierto se cubría de maná: pequeñas partículas blancas como la escarcha.</a:t>
            </a:r>
            <a:endParaRPr lang="en-US" sz="1550" dirty="0"/>
          </a:p>
        </p:txBody>
      </p:sp>
      <p:sp>
        <p:nvSpPr>
          <p:cNvPr id="9" name="Text 7"/>
          <p:cNvSpPr/>
          <p:nvPr/>
        </p:nvSpPr>
        <p:spPr>
          <a:xfrm>
            <a:off x="7564874" y="293072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76B9FF"/>
                </a:solidFill>
                <a:latin typeface="Roboto Slab" pitchFamily="34" charset="0"/>
                <a:ea typeface="Roboto Slab" pitchFamily="34" charset="-122"/>
                <a:cs typeface="Roboto Slab" pitchFamily="34" charset="-120"/>
              </a:rPr>
              <a:t>Las reglas del maná</a:t>
            </a:r>
            <a:endParaRPr lang="en-US" sz="195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39288" y="3473887"/>
            <a:ext cx="297656" cy="297656"/>
          </a:xfrm>
          <a:prstGeom prst="rect">
            <a:avLst/>
          </a:prstGeom>
        </p:spPr>
      </p:pic>
      <p:sp>
        <p:nvSpPr>
          <p:cNvPr id="11" name="Text 8"/>
          <p:cNvSpPr/>
          <p:nvPr/>
        </p:nvSpPr>
        <p:spPr>
          <a:xfrm>
            <a:off x="8209717" y="3464123"/>
            <a:ext cx="5634514" cy="317540"/>
          </a:xfrm>
          <a:prstGeom prst="rect">
            <a:avLst/>
          </a:prstGeom>
          <a:noFill/>
          <a:ln/>
        </p:spPr>
        <p:txBody>
          <a:bodyPr wrap="none" lIns="0" tIns="0" rIns="0" bIns="0" rtlCol="0" anchor="t"/>
          <a:lstStyle/>
          <a:p>
            <a:pPr marL="0" indent="0" algn="l">
              <a:lnSpc>
                <a:spcPts val="2500"/>
              </a:lnSpc>
              <a:buNone/>
            </a:pPr>
            <a:r>
              <a:rPr lang="en-US" sz="1550" b="1" dirty="0">
                <a:solidFill>
                  <a:srgbClr val="D6E5EF"/>
                </a:solidFill>
                <a:latin typeface="Roboto" pitchFamily="34" charset="0"/>
                <a:ea typeface="Roboto" pitchFamily="34" charset="-122"/>
                <a:cs typeface="Roboto" pitchFamily="34" charset="-120"/>
              </a:rPr>
              <a:t>Recoger cada día:</a:t>
            </a:r>
            <a:r>
              <a:rPr lang="en-US" sz="1550" dirty="0">
                <a:solidFill>
                  <a:srgbClr val="D6E5EF"/>
                </a:solidFill>
                <a:latin typeface="Roboto" pitchFamily="34" charset="0"/>
                <a:ea typeface="Roboto" pitchFamily="34" charset="-122"/>
                <a:cs typeface="Roboto" pitchFamily="34" charset="-120"/>
              </a:rPr>
              <a:t> Solo la porción diaria, sin acumular.</a:t>
            </a:r>
            <a:endParaRPr lang="en-US" sz="155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39288" y="4475917"/>
            <a:ext cx="297656" cy="297656"/>
          </a:xfrm>
          <a:prstGeom prst="rect">
            <a:avLst/>
          </a:prstGeom>
        </p:spPr>
      </p:pic>
      <p:sp>
        <p:nvSpPr>
          <p:cNvPr id="13" name="Text 9"/>
          <p:cNvSpPr/>
          <p:nvPr/>
        </p:nvSpPr>
        <p:spPr>
          <a:xfrm>
            <a:off x="8209717" y="4466153"/>
            <a:ext cx="5634514" cy="635079"/>
          </a:xfrm>
          <a:prstGeom prst="rect">
            <a:avLst/>
          </a:prstGeom>
          <a:noFill/>
          <a:ln/>
        </p:spPr>
        <p:txBody>
          <a:bodyPr wrap="square" lIns="0" tIns="0" rIns="0" bIns="0" rtlCol="0" anchor="t"/>
          <a:lstStyle/>
          <a:p>
            <a:pPr marL="0" indent="0" algn="l">
              <a:lnSpc>
                <a:spcPts val="2500"/>
              </a:lnSpc>
              <a:buNone/>
            </a:pPr>
            <a:r>
              <a:rPr lang="en-US" sz="1550" b="1" dirty="0">
                <a:solidFill>
                  <a:srgbClr val="D6E5EF"/>
                </a:solidFill>
                <a:latin typeface="Roboto" pitchFamily="34" charset="0"/>
                <a:ea typeface="Roboto" pitchFamily="34" charset="-122"/>
                <a:cs typeface="Roboto" pitchFamily="34" charset="-120"/>
              </a:rPr>
              <a:t>Confianza activa:</a:t>
            </a:r>
            <a:r>
              <a:rPr lang="en-US" sz="1550" dirty="0">
                <a:solidFill>
                  <a:srgbClr val="D6E5EF"/>
                </a:solidFill>
                <a:latin typeface="Roboto" pitchFamily="34" charset="0"/>
                <a:ea typeface="Roboto" pitchFamily="34" charset="-122"/>
                <a:cs typeface="Roboto" pitchFamily="34" charset="-120"/>
              </a:rPr>
              <a:t> Salir cada mañana a recoger lo que Dios provee.</a:t>
            </a:r>
            <a:endParaRPr lang="en-US" sz="155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39288" y="5507831"/>
            <a:ext cx="297656" cy="297656"/>
          </a:xfrm>
          <a:prstGeom prst="rect">
            <a:avLst/>
          </a:prstGeom>
        </p:spPr>
      </p:pic>
      <p:sp>
        <p:nvSpPr>
          <p:cNvPr id="15" name="Text 10"/>
          <p:cNvSpPr/>
          <p:nvPr/>
        </p:nvSpPr>
        <p:spPr>
          <a:xfrm>
            <a:off x="8209717" y="5498068"/>
            <a:ext cx="5634514" cy="317540"/>
          </a:xfrm>
          <a:prstGeom prst="rect">
            <a:avLst/>
          </a:prstGeom>
          <a:noFill/>
          <a:ln/>
        </p:spPr>
        <p:txBody>
          <a:bodyPr wrap="none" lIns="0" tIns="0" rIns="0" bIns="0" rtlCol="0" anchor="t"/>
          <a:lstStyle/>
          <a:p>
            <a:pPr marL="0" indent="0" algn="l">
              <a:lnSpc>
                <a:spcPts val="2500"/>
              </a:lnSpc>
              <a:buNone/>
            </a:pPr>
            <a:r>
              <a:rPr lang="en-US" sz="1550" b="1" dirty="0">
                <a:solidFill>
                  <a:srgbClr val="D6E5EF"/>
                </a:solidFill>
                <a:latin typeface="Roboto" pitchFamily="34" charset="0"/>
                <a:ea typeface="Roboto" pitchFamily="34" charset="-122"/>
                <a:cs typeface="Roboto" pitchFamily="34" charset="-120"/>
              </a:rPr>
              <a:t>El sábado:</a:t>
            </a:r>
            <a:r>
              <a:rPr lang="en-US" sz="1550" dirty="0">
                <a:solidFill>
                  <a:srgbClr val="D6E5EF"/>
                </a:solidFill>
                <a:latin typeface="Roboto" pitchFamily="34" charset="0"/>
                <a:ea typeface="Roboto" pitchFamily="34" charset="-122"/>
                <a:cs typeface="Roboto" pitchFamily="34" charset="-120"/>
              </a:rPr>
              <a:t> Doble porción el día anterior, señal de descanso.</a:t>
            </a:r>
            <a:endParaRPr lang="en-US" sz="1550" dirty="0"/>
          </a:p>
        </p:txBody>
      </p:sp>
      <p:sp>
        <p:nvSpPr>
          <p:cNvPr id="16" name="Text 11"/>
          <p:cNvSpPr/>
          <p:nvPr/>
        </p:nvSpPr>
        <p:spPr>
          <a:xfrm>
            <a:off x="7862530" y="6326505"/>
            <a:ext cx="5981700" cy="317540"/>
          </a:xfrm>
          <a:prstGeom prst="rect">
            <a:avLst/>
          </a:prstGeom>
          <a:noFill/>
          <a:ln/>
        </p:spPr>
        <p:txBody>
          <a:bodyPr wrap="none" lIns="0" tIns="0" rIns="0" bIns="0" rtlCol="0" anchor="t"/>
          <a:lstStyle/>
          <a:p>
            <a:pPr marL="0" indent="0" algn="l">
              <a:lnSpc>
                <a:spcPts val="2500"/>
              </a:lnSpc>
              <a:buNone/>
            </a:pPr>
            <a:r>
              <a:rPr lang="en-US" sz="1550" b="1" dirty="0">
                <a:solidFill>
                  <a:srgbClr val="D6E5EF"/>
                </a:solidFill>
                <a:latin typeface="Roboto" pitchFamily="34" charset="0"/>
                <a:ea typeface="Roboto" pitchFamily="34" charset="-122"/>
                <a:cs typeface="Roboto" pitchFamily="34" charset="-120"/>
              </a:rPr>
              <a:t>«La fe se renueva cada mañana.»</a:t>
            </a:r>
            <a:endParaRPr lang="en-US" sz="1550" dirty="0"/>
          </a:p>
        </p:txBody>
      </p:sp>
      <p:sp>
        <p:nvSpPr>
          <p:cNvPr id="17" name="Shape 12"/>
          <p:cNvSpPr/>
          <p:nvPr/>
        </p:nvSpPr>
        <p:spPr>
          <a:xfrm>
            <a:off x="7564874" y="6326505"/>
            <a:ext cx="22860" cy="317540"/>
          </a:xfrm>
          <a:prstGeom prst="rect">
            <a:avLst/>
          </a:prstGeom>
          <a:solidFill>
            <a:srgbClr val="66A8EE"/>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Shape 0"/>
          <p:cNvSpPr/>
          <p:nvPr/>
        </p:nvSpPr>
        <p:spPr>
          <a:xfrm>
            <a:off x="6280190" y="629126"/>
            <a:ext cx="1271707" cy="373142"/>
          </a:xfrm>
          <a:prstGeom prst="roundRect">
            <a:avLst>
              <a:gd name="adj" fmla="val 6383"/>
            </a:avLst>
          </a:prstGeom>
          <a:solidFill>
            <a:srgbClr val="082545"/>
          </a:solidFill>
          <a:ln/>
        </p:spPr>
      </p:sp>
      <p:sp>
        <p:nvSpPr>
          <p:cNvPr id="4" name="Text 1"/>
          <p:cNvSpPr/>
          <p:nvPr/>
        </p:nvSpPr>
        <p:spPr>
          <a:xfrm>
            <a:off x="6399252" y="688658"/>
            <a:ext cx="1033582" cy="254079"/>
          </a:xfrm>
          <a:prstGeom prst="rect">
            <a:avLst/>
          </a:prstGeom>
          <a:noFill/>
          <a:ln/>
        </p:spPr>
        <p:txBody>
          <a:bodyPr wrap="none" lIns="0" tIns="0" rIns="0" bIns="0" rtlCol="0" anchor="t"/>
          <a:lstStyle/>
          <a:p>
            <a:pPr marL="0" indent="0" algn="l">
              <a:lnSpc>
                <a:spcPts val="2000"/>
              </a:lnSpc>
              <a:buNone/>
            </a:pPr>
            <a:r>
              <a:rPr lang="en-US" sz="1250" dirty="0">
                <a:solidFill>
                  <a:srgbClr val="D6E5EF"/>
                </a:solidFill>
                <a:latin typeface="Roboto" pitchFamily="34" charset="0"/>
                <a:ea typeface="Roboto" pitchFamily="34" charset="-122"/>
                <a:cs typeface="Roboto" pitchFamily="34" charset="-120"/>
              </a:rPr>
              <a:t>JUAN 6:31–51</a:t>
            </a:r>
            <a:endParaRPr lang="en-US" sz="1250" dirty="0"/>
          </a:p>
        </p:txBody>
      </p:sp>
      <p:sp>
        <p:nvSpPr>
          <p:cNvPr id="5" name="Text 2"/>
          <p:cNvSpPr/>
          <p:nvPr/>
        </p:nvSpPr>
        <p:spPr>
          <a:xfrm>
            <a:off x="6280190" y="1081564"/>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El maná y Jesucristo</a:t>
            </a:r>
            <a:endParaRPr lang="en-US" sz="3900" dirty="0"/>
          </a:p>
        </p:txBody>
      </p:sp>
      <p:sp>
        <p:nvSpPr>
          <p:cNvPr id="6" name="Text 3"/>
          <p:cNvSpPr/>
          <p:nvPr/>
        </p:nvSpPr>
        <p:spPr>
          <a:xfrm>
            <a:off x="6280190" y="1999298"/>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En el Evangelio de Juan, Jesús revela el significado espiritual del maná. No fue solo alimento físico para un pueblo en el desierto; fue una </a:t>
            </a:r>
            <a:r>
              <a:rPr lang="en-US" sz="1550" b="1" dirty="0">
                <a:solidFill>
                  <a:srgbClr val="D6E5EF"/>
                </a:solidFill>
                <a:latin typeface="Roboto" pitchFamily="34" charset="0"/>
                <a:ea typeface="Roboto" pitchFamily="34" charset="-122"/>
                <a:cs typeface="Roboto" pitchFamily="34" charset="-120"/>
              </a:rPr>
              <a:t>sombra profética</a:t>
            </a:r>
            <a:r>
              <a:rPr lang="en-US" sz="1550" dirty="0">
                <a:solidFill>
                  <a:srgbClr val="D6E5EF"/>
                </a:solidFill>
                <a:latin typeface="Roboto" pitchFamily="34" charset="0"/>
                <a:ea typeface="Roboto" pitchFamily="34" charset="-122"/>
                <a:cs typeface="Roboto" pitchFamily="34" charset="-120"/>
              </a:rPr>
              <a:t> de algo mucho mayor.</a:t>
            </a:r>
            <a:endParaRPr lang="en-US" sz="1550" dirty="0"/>
          </a:p>
        </p:txBody>
      </p:sp>
      <p:sp>
        <p:nvSpPr>
          <p:cNvPr id="7" name="Shape 4"/>
          <p:cNvSpPr/>
          <p:nvPr/>
        </p:nvSpPr>
        <p:spPr>
          <a:xfrm>
            <a:off x="6280190" y="3175159"/>
            <a:ext cx="3679031" cy="1778556"/>
          </a:xfrm>
          <a:prstGeom prst="roundRect">
            <a:avLst>
              <a:gd name="adj" fmla="val 1674"/>
            </a:avLst>
          </a:prstGeom>
          <a:solidFill>
            <a:srgbClr val="3F4652"/>
          </a:solidFill>
          <a:ln/>
        </p:spPr>
      </p:sp>
      <p:sp>
        <p:nvSpPr>
          <p:cNvPr id="8" name="Text 5"/>
          <p:cNvSpPr/>
          <p:nvPr/>
        </p:nvSpPr>
        <p:spPr>
          <a:xfrm>
            <a:off x="6478548" y="337351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Juan 6:35</a:t>
            </a:r>
            <a:endParaRPr lang="en-US" sz="1950" dirty="0"/>
          </a:p>
        </p:txBody>
      </p:sp>
      <p:sp>
        <p:nvSpPr>
          <p:cNvPr id="9" name="Text 6"/>
          <p:cNvSpPr/>
          <p:nvPr/>
        </p:nvSpPr>
        <p:spPr>
          <a:xfrm>
            <a:off x="6478548" y="3802737"/>
            <a:ext cx="3282315" cy="635079"/>
          </a:xfrm>
          <a:prstGeom prst="rect">
            <a:avLst/>
          </a:prstGeom>
          <a:noFill/>
          <a:ln/>
        </p:spPr>
        <p:txBody>
          <a:bodyPr wrap="square" lIns="0" tIns="0" rIns="0" bIns="0" rtlCol="0" anchor="t"/>
          <a:lstStyle/>
          <a:p>
            <a:pPr marL="0" indent="0" algn="l">
              <a:lnSpc>
                <a:spcPts val="2500"/>
              </a:lnSpc>
              <a:buNone/>
            </a:pPr>
            <a:r>
              <a:rPr lang="en-US" sz="1550" i="1" dirty="0">
                <a:solidFill>
                  <a:srgbClr val="D6E5EF"/>
                </a:solidFill>
                <a:latin typeface="Roboto" pitchFamily="34" charset="0"/>
                <a:ea typeface="Roboto" pitchFamily="34" charset="-122"/>
                <a:cs typeface="Roboto" pitchFamily="34" charset="-120"/>
              </a:rPr>
              <a:t>«Yo soy el pan de vida; el que a mí viene, nunca tendrá hambre.»</a:t>
            </a:r>
            <a:endParaRPr lang="en-US" sz="1550" dirty="0"/>
          </a:p>
        </p:txBody>
      </p:sp>
      <p:sp>
        <p:nvSpPr>
          <p:cNvPr id="10" name="Shape 7"/>
          <p:cNvSpPr/>
          <p:nvPr/>
        </p:nvSpPr>
        <p:spPr>
          <a:xfrm>
            <a:off x="10157579" y="3175159"/>
            <a:ext cx="3679031" cy="1778556"/>
          </a:xfrm>
          <a:prstGeom prst="roundRect">
            <a:avLst>
              <a:gd name="adj" fmla="val 1674"/>
            </a:avLst>
          </a:prstGeom>
          <a:solidFill>
            <a:srgbClr val="3F4652"/>
          </a:solidFill>
          <a:ln/>
        </p:spPr>
      </p:sp>
      <p:sp>
        <p:nvSpPr>
          <p:cNvPr id="11" name="Text 8"/>
          <p:cNvSpPr/>
          <p:nvPr/>
        </p:nvSpPr>
        <p:spPr>
          <a:xfrm>
            <a:off x="10355937" y="337351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Juan 6:47–51</a:t>
            </a:r>
            <a:endParaRPr lang="en-US" sz="1950" dirty="0"/>
          </a:p>
        </p:txBody>
      </p:sp>
      <p:sp>
        <p:nvSpPr>
          <p:cNvPr id="12" name="Text 9"/>
          <p:cNvSpPr/>
          <p:nvPr/>
        </p:nvSpPr>
        <p:spPr>
          <a:xfrm>
            <a:off x="10355937" y="3802737"/>
            <a:ext cx="3282315" cy="952619"/>
          </a:xfrm>
          <a:prstGeom prst="rect">
            <a:avLst/>
          </a:prstGeom>
          <a:noFill/>
          <a:ln/>
        </p:spPr>
        <p:txBody>
          <a:bodyPr wrap="square" lIns="0" tIns="0" rIns="0" bIns="0" rtlCol="0" anchor="t"/>
          <a:lstStyle/>
          <a:p>
            <a:pPr marL="0" indent="0" algn="l">
              <a:lnSpc>
                <a:spcPts val="2500"/>
              </a:lnSpc>
              <a:buNone/>
            </a:pPr>
            <a:r>
              <a:rPr lang="en-US" sz="1550" i="1" dirty="0">
                <a:solidFill>
                  <a:srgbClr val="D6E5EF"/>
                </a:solidFill>
                <a:latin typeface="Roboto" pitchFamily="34" charset="0"/>
                <a:ea typeface="Roboto" pitchFamily="34" charset="-122"/>
                <a:cs typeface="Roboto" pitchFamily="34" charset="-120"/>
              </a:rPr>
              <a:t>«El que cree en mí tiene vida eterna… Yo soy el pan vivo que descendió del cielo.»</a:t>
            </a:r>
            <a:endParaRPr lang="en-US" sz="1550" dirty="0"/>
          </a:p>
        </p:txBody>
      </p:sp>
      <p:sp>
        <p:nvSpPr>
          <p:cNvPr id="13" name="Shape 10"/>
          <p:cNvSpPr/>
          <p:nvPr/>
        </p:nvSpPr>
        <p:spPr>
          <a:xfrm>
            <a:off x="6280190" y="5152072"/>
            <a:ext cx="7556421" cy="1461016"/>
          </a:xfrm>
          <a:prstGeom prst="roundRect">
            <a:avLst>
              <a:gd name="adj" fmla="val 2038"/>
            </a:avLst>
          </a:prstGeom>
          <a:solidFill>
            <a:srgbClr val="3F4652"/>
          </a:solidFill>
          <a:ln/>
        </p:spPr>
      </p:sp>
      <p:sp>
        <p:nvSpPr>
          <p:cNvPr id="14" name="Text 11"/>
          <p:cNvSpPr/>
          <p:nvPr/>
        </p:nvSpPr>
        <p:spPr>
          <a:xfrm>
            <a:off x="6478548" y="535043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La diferencia</a:t>
            </a:r>
            <a:endParaRPr lang="en-US" sz="1950" dirty="0"/>
          </a:p>
        </p:txBody>
      </p:sp>
      <p:sp>
        <p:nvSpPr>
          <p:cNvPr id="15" name="Text 12"/>
          <p:cNvSpPr/>
          <p:nvPr/>
        </p:nvSpPr>
        <p:spPr>
          <a:xfrm>
            <a:off x="6478548" y="5779651"/>
            <a:ext cx="7159704" cy="63507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El maná del desierto alimentaba el cuerpo por un día. Cristo alimenta el alma para la eternidad.</a:t>
            </a:r>
            <a:endParaRPr lang="en-US" sz="1550" dirty="0"/>
          </a:p>
        </p:txBody>
      </p:sp>
      <p:sp>
        <p:nvSpPr>
          <p:cNvPr id="16" name="Text 13"/>
          <p:cNvSpPr/>
          <p:nvPr/>
        </p:nvSpPr>
        <p:spPr>
          <a:xfrm>
            <a:off x="6577846" y="7059573"/>
            <a:ext cx="7258764" cy="317540"/>
          </a:xfrm>
          <a:prstGeom prst="rect">
            <a:avLst/>
          </a:prstGeom>
          <a:noFill/>
          <a:ln/>
        </p:spPr>
        <p:txBody>
          <a:bodyPr wrap="none" lIns="0" tIns="0" rIns="0" bIns="0" rtlCol="0" anchor="t"/>
          <a:lstStyle/>
          <a:p>
            <a:pPr marL="0" indent="0" algn="l">
              <a:lnSpc>
                <a:spcPts val="2500"/>
              </a:lnSpc>
              <a:buNone/>
            </a:pPr>
            <a:r>
              <a:rPr lang="en-US" sz="1550" b="1" dirty="0">
                <a:solidFill>
                  <a:srgbClr val="D6E5EF"/>
                </a:solidFill>
                <a:latin typeface="Roboto" pitchFamily="34" charset="0"/>
                <a:ea typeface="Roboto" pitchFamily="34" charset="-122"/>
                <a:cs typeface="Roboto" pitchFamily="34" charset="-120"/>
              </a:rPr>
              <a:t>«El maná alimenta el cuerpo; Cristo alimenta el alma.»</a:t>
            </a:r>
            <a:endParaRPr lang="en-US" sz="1550" dirty="0"/>
          </a:p>
        </p:txBody>
      </p:sp>
      <p:sp>
        <p:nvSpPr>
          <p:cNvPr id="17" name="Shape 14"/>
          <p:cNvSpPr/>
          <p:nvPr/>
        </p:nvSpPr>
        <p:spPr>
          <a:xfrm>
            <a:off x="6280190" y="6836331"/>
            <a:ext cx="22860" cy="764024"/>
          </a:xfrm>
          <a:prstGeom prst="rect">
            <a:avLst/>
          </a:prstGeom>
          <a:solidFill>
            <a:srgbClr val="66A8E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1686520"/>
            <a:ext cx="1949648" cy="373142"/>
          </a:xfrm>
          <a:prstGeom prst="roundRect">
            <a:avLst>
              <a:gd name="adj" fmla="val 6383"/>
            </a:avLst>
          </a:prstGeom>
          <a:solidFill>
            <a:srgbClr val="082545"/>
          </a:solidFill>
          <a:ln/>
        </p:spPr>
      </p:sp>
      <p:sp>
        <p:nvSpPr>
          <p:cNvPr id="3" name="Text 1"/>
          <p:cNvSpPr/>
          <p:nvPr/>
        </p:nvSpPr>
        <p:spPr>
          <a:xfrm>
            <a:off x="912852" y="1746052"/>
            <a:ext cx="1711523" cy="254079"/>
          </a:xfrm>
          <a:prstGeom prst="rect">
            <a:avLst/>
          </a:prstGeom>
          <a:noFill/>
          <a:ln/>
        </p:spPr>
        <p:txBody>
          <a:bodyPr wrap="none" lIns="0" tIns="0" rIns="0" bIns="0" rtlCol="0" anchor="t"/>
          <a:lstStyle/>
          <a:p>
            <a:pPr marL="0" indent="0" algn="l">
              <a:lnSpc>
                <a:spcPts val="2000"/>
              </a:lnSpc>
              <a:buNone/>
            </a:pPr>
            <a:r>
              <a:rPr lang="en-US" sz="1250" dirty="0">
                <a:solidFill>
                  <a:srgbClr val="D6E5EF"/>
                </a:solidFill>
                <a:latin typeface="Roboto" pitchFamily="34" charset="0"/>
                <a:ea typeface="Roboto" pitchFamily="34" charset="-122"/>
                <a:cs typeface="Roboto" pitchFamily="34" charset="-120"/>
              </a:rPr>
              <a:t>NUTRICIÓN ESPIRITUAL</a:t>
            </a:r>
            <a:endParaRPr lang="en-US" sz="1250" dirty="0"/>
          </a:p>
        </p:txBody>
      </p:sp>
      <p:sp>
        <p:nvSpPr>
          <p:cNvPr id="4" name="Text 2"/>
          <p:cNvSpPr/>
          <p:nvPr/>
        </p:nvSpPr>
        <p:spPr>
          <a:xfrm>
            <a:off x="793790" y="2138958"/>
            <a:ext cx="7077908" cy="620078"/>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El alma también tiene hambre</a:t>
            </a:r>
            <a:endParaRPr lang="en-US" sz="3900" dirty="0"/>
          </a:p>
        </p:txBody>
      </p:sp>
      <p:sp>
        <p:nvSpPr>
          <p:cNvPr id="5" name="Text 3"/>
          <p:cNvSpPr/>
          <p:nvPr/>
        </p:nvSpPr>
        <p:spPr>
          <a:xfrm>
            <a:off x="1091446" y="3279934"/>
            <a:ext cx="6657975" cy="1905238"/>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«No debemos creer que podemos pasar semanas y meses sin nutrirnos espiritualmente, sin sufrir o sin que ello influya negativamente en nuestra vida espiritual. El reconocer la realidad de nuestra necesidad de administración espiritual diaria, o maná, nos ayuda a aumentar nuestro valor para hacer lo justo y servir al prójimo, más que si hubiéramos ignorado a Dios.»</a:t>
            </a:r>
            <a:endParaRPr lang="en-US" sz="1550" dirty="0"/>
          </a:p>
        </p:txBody>
      </p:sp>
      <p:sp>
        <p:nvSpPr>
          <p:cNvPr id="6" name="Text 4"/>
          <p:cNvSpPr/>
          <p:nvPr/>
        </p:nvSpPr>
        <p:spPr>
          <a:xfrm>
            <a:off x="1091446" y="5363766"/>
            <a:ext cx="6657975" cy="317540"/>
          </a:xfrm>
          <a:prstGeom prst="rect">
            <a:avLst/>
          </a:prstGeom>
          <a:noFill/>
          <a:ln/>
        </p:spPr>
        <p:txBody>
          <a:bodyPr wrap="non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 </a:t>
            </a:r>
            <a:r>
              <a:rPr lang="en-US" sz="1550" b="1" dirty="0">
                <a:solidFill>
                  <a:srgbClr val="D6E5EF"/>
                </a:solidFill>
                <a:latin typeface="Roboto" pitchFamily="34" charset="0"/>
                <a:ea typeface="Roboto" pitchFamily="34" charset="-122"/>
                <a:cs typeface="Roboto" pitchFamily="34" charset="-120"/>
              </a:rPr>
              <a:t>Élder D. Todd Christofferson</a:t>
            </a:r>
            <a:r>
              <a:rPr lang="en-US" sz="1550" dirty="0">
                <a:solidFill>
                  <a:srgbClr val="D6E5EF"/>
                </a:solidFill>
                <a:latin typeface="Roboto" pitchFamily="34" charset="0"/>
                <a:ea typeface="Roboto" pitchFamily="34" charset="-122"/>
                <a:cs typeface="Roboto" pitchFamily="34" charset="-120"/>
              </a:rPr>
              <a:t>, </a:t>
            </a:r>
            <a:r>
              <a:rPr lang="en-US" sz="1550" i="1" dirty="0">
                <a:solidFill>
                  <a:srgbClr val="D6E5EF"/>
                </a:solidFill>
                <a:latin typeface="Roboto" pitchFamily="34" charset="0"/>
                <a:ea typeface="Roboto" pitchFamily="34" charset="-122"/>
                <a:cs typeface="Roboto" pitchFamily="34" charset="-120"/>
              </a:rPr>
              <a:t>«Pan de cada día: Modelos»</a:t>
            </a:r>
            <a:endParaRPr lang="en-US" sz="1550" dirty="0"/>
          </a:p>
        </p:txBody>
      </p:sp>
      <p:sp>
        <p:nvSpPr>
          <p:cNvPr id="7" name="Shape 5"/>
          <p:cNvSpPr/>
          <p:nvPr/>
        </p:nvSpPr>
        <p:spPr>
          <a:xfrm>
            <a:off x="793790" y="3279934"/>
            <a:ext cx="22860" cy="2401372"/>
          </a:xfrm>
          <a:prstGeom prst="rect">
            <a:avLst/>
          </a:prstGeom>
          <a:solidFill>
            <a:srgbClr val="66A8EE"/>
          </a:solidFill>
          <a:ln/>
        </p:spPr>
      </p:sp>
      <p:sp>
        <p:nvSpPr>
          <p:cNvPr id="8" name="Text 6"/>
          <p:cNvSpPr/>
          <p:nvPr/>
        </p:nvSpPr>
        <p:spPr>
          <a:xfrm>
            <a:off x="8241149" y="325505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76B9FF"/>
                </a:solidFill>
                <a:latin typeface="Roboto Slab" pitchFamily="34" charset="0"/>
                <a:ea typeface="Roboto Slab" pitchFamily="34" charset="-122"/>
                <a:cs typeface="Roboto Slab" pitchFamily="34" charset="-120"/>
              </a:rPr>
              <a:t>Reflexión personal</a:t>
            </a:r>
            <a:endParaRPr lang="en-US" sz="1950" dirty="0"/>
          </a:p>
        </p:txBody>
      </p:sp>
      <p:sp>
        <p:nvSpPr>
          <p:cNvPr id="9" name="Shape 7"/>
          <p:cNvSpPr/>
          <p:nvPr/>
        </p:nvSpPr>
        <p:spPr>
          <a:xfrm>
            <a:off x="8241149" y="3788450"/>
            <a:ext cx="2702243" cy="2531269"/>
          </a:xfrm>
          <a:prstGeom prst="roundRect">
            <a:avLst>
              <a:gd name="adj" fmla="val 4335"/>
            </a:avLst>
          </a:prstGeom>
          <a:solidFill>
            <a:srgbClr val="202733"/>
          </a:solidFill>
          <a:ln w="22860">
            <a:solidFill>
              <a:srgbClr val="585F6B"/>
            </a:solidFill>
            <a:prstDash val="solid"/>
          </a:ln>
        </p:spPr>
      </p:sp>
      <p:pic>
        <p:nvPicPr>
          <p:cNvPr id="10" name="Image 0" descr="preencoded.png"/>
          <p:cNvPicPr>
            <a:picLocks noChangeAspect="1"/>
          </p:cNvPicPr>
          <p:nvPr/>
        </p:nvPicPr>
        <p:blipFill>
          <a:blip r:embed="rId3"/>
          <a:stretch>
            <a:fillRect/>
          </a:stretch>
        </p:blipFill>
        <p:spPr>
          <a:xfrm>
            <a:off x="8218289" y="3788450"/>
            <a:ext cx="91440" cy="2531269"/>
          </a:xfrm>
          <a:prstGeom prst="rect">
            <a:avLst/>
          </a:prstGeom>
        </p:spPr>
      </p:pic>
      <p:sp>
        <p:nvSpPr>
          <p:cNvPr id="11" name="Text 8"/>
          <p:cNvSpPr/>
          <p:nvPr/>
        </p:nvSpPr>
        <p:spPr>
          <a:xfrm>
            <a:off x="8530947" y="4009668"/>
            <a:ext cx="2191226" cy="620316"/>
          </a:xfrm>
          <a:prstGeom prst="rect">
            <a:avLst/>
          </a:prstGeom>
          <a:noFill/>
          <a:ln/>
        </p:spPr>
        <p:txBody>
          <a:bodyPr wrap="squar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¿Por qué alimentar el espíritu?</a:t>
            </a:r>
            <a:endParaRPr lang="en-US" sz="1950" dirty="0"/>
          </a:p>
        </p:txBody>
      </p:sp>
      <p:sp>
        <p:nvSpPr>
          <p:cNvPr id="12" name="Text 9"/>
          <p:cNvSpPr/>
          <p:nvPr/>
        </p:nvSpPr>
        <p:spPr>
          <a:xfrm>
            <a:off x="8530947" y="4828342"/>
            <a:ext cx="2191226" cy="127015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El alma, como el cuerpo, se debilita sin alimento. La distancia espiritual crece en silencio.</a:t>
            </a:r>
            <a:endParaRPr lang="en-US" sz="1550" dirty="0"/>
          </a:p>
        </p:txBody>
      </p:sp>
      <p:sp>
        <p:nvSpPr>
          <p:cNvPr id="13" name="Shape 10"/>
          <p:cNvSpPr/>
          <p:nvPr/>
        </p:nvSpPr>
        <p:spPr>
          <a:xfrm>
            <a:off x="11141750" y="3788450"/>
            <a:ext cx="2702362" cy="2531269"/>
          </a:xfrm>
          <a:prstGeom prst="roundRect">
            <a:avLst>
              <a:gd name="adj" fmla="val 4335"/>
            </a:avLst>
          </a:prstGeom>
          <a:solidFill>
            <a:srgbClr val="202733"/>
          </a:solidFill>
          <a:ln w="22860">
            <a:solidFill>
              <a:srgbClr val="585F6B"/>
            </a:solidFill>
            <a:prstDash val="solid"/>
          </a:ln>
        </p:spPr>
      </p:sp>
      <p:pic>
        <p:nvPicPr>
          <p:cNvPr id="14" name="Image 1" descr="preencoded.png"/>
          <p:cNvPicPr>
            <a:picLocks noChangeAspect="1"/>
          </p:cNvPicPr>
          <p:nvPr/>
        </p:nvPicPr>
        <p:blipFill>
          <a:blip r:embed="rId3"/>
          <a:stretch>
            <a:fillRect/>
          </a:stretch>
        </p:blipFill>
        <p:spPr>
          <a:xfrm>
            <a:off x="11118890" y="3788450"/>
            <a:ext cx="91440" cy="2531269"/>
          </a:xfrm>
          <a:prstGeom prst="rect">
            <a:avLst/>
          </a:prstGeom>
        </p:spPr>
      </p:pic>
      <p:sp>
        <p:nvSpPr>
          <p:cNvPr id="15" name="Text 11"/>
          <p:cNvSpPr/>
          <p:nvPr/>
        </p:nvSpPr>
        <p:spPr>
          <a:xfrm>
            <a:off x="11431548" y="4009668"/>
            <a:ext cx="2191345" cy="620316"/>
          </a:xfrm>
          <a:prstGeom prst="rect">
            <a:avLst/>
          </a:prstGeom>
          <a:noFill/>
          <a:ln/>
        </p:spPr>
        <p:txBody>
          <a:bodyPr wrap="squar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¿Por qué es fácil descuidarlo?</a:t>
            </a:r>
            <a:endParaRPr lang="en-US" sz="1950" dirty="0"/>
          </a:p>
        </p:txBody>
      </p:sp>
      <p:sp>
        <p:nvSpPr>
          <p:cNvPr id="16" name="Text 12"/>
          <p:cNvSpPr/>
          <p:nvPr/>
        </p:nvSpPr>
        <p:spPr>
          <a:xfrm>
            <a:off x="11431548" y="4828342"/>
            <a:ext cx="2191345" cy="127015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Las urgencias del día desplazan lo esencial. Lo inmediato ahoga lo eterno.</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841296"/>
            <a:ext cx="2233255" cy="373142"/>
          </a:xfrm>
          <a:prstGeom prst="roundRect">
            <a:avLst>
              <a:gd name="adj" fmla="val 6383"/>
            </a:avLst>
          </a:prstGeom>
          <a:solidFill>
            <a:srgbClr val="082545"/>
          </a:solidFill>
          <a:ln/>
        </p:spPr>
      </p:sp>
      <p:sp>
        <p:nvSpPr>
          <p:cNvPr id="3" name="Text 1"/>
          <p:cNvSpPr/>
          <p:nvPr/>
        </p:nvSpPr>
        <p:spPr>
          <a:xfrm>
            <a:off x="912852" y="900827"/>
            <a:ext cx="1995130" cy="254079"/>
          </a:xfrm>
          <a:prstGeom prst="rect">
            <a:avLst/>
          </a:prstGeom>
          <a:noFill/>
          <a:ln/>
        </p:spPr>
        <p:txBody>
          <a:bodyPr wrap="none" lIns="0" tIns="0" rIns="0" bIns="0" rtlCol="0" anchor="t"/>
          <a:lstStyle/>
          <a:p>
            <a:pPr marL="0" indent="0" algn="l">
              <a:lnSpc>
                <a:spcPts val="2000"/>
              </a:lnSpc>
              <a:buNone/>
            </a:pPr>
            <a:r>
              <a:rPr lang="en-US" sz="1250" dirty="0">
                <a:solidFill>
                  <a:srgbClr val="D6E5EF"/>
                </a:solidFill>
                <a:latin typeface="Roboto" pitchFamily="34" charset="0"/>
                <a:ea typeface="Roboto" pitchFamily="34" charset="-122"/>
                <a:cs typeface="Roboto" pitchFamily="34" charset="-120"/>
              </a:rPr>
              <a:t>TESTIMONIOS PROFÉTICOS</a:t>
            </a:r>
            <a:endParaRPr lang="en-US" sz="1250" dirty="0"/>
          </a:p>
        </p:txBody>
      </p:sp>
      <p:sp>
        <p:nvSpPr>
          <p:cNvPr id="4" name="Text 2"/>
          <p:cNvSpPr/>
          <p:nvPr/>
        </p:nvSpPr>
        <p:spPr>
          <a:xfrm>
            <a:off x="793790" y="1293733"/>
            <a:ext cx="7249478" cy="620078"/>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La fe se alimenta todos los días</a:t>
            </a:r>
            <a:endParaRPr lang="en-US" sz="3900" dirty="0"/>
          </a:p>
        </p:txBody>
      </p:sp>
      <p:sp>
        <p:nvSpPr>
          <p:cNvPr id="6" name="Text 3"/>
          <p:cNvSpPr/>
          <p:nvPr/>
        </p:nvSpPr>
        <p:spPr>
          <a:xfrm>
            <a:off x="793790" y="4299585"/>
            <a:ext cx="3396496"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Presidente Russell M. Nelson</a:t>
            </a:r>
            <a:endParaRPr lang="en-US" sz="1950" dirty="0"/>
          </a:p>
        </p:txBody>
      </p:sp>
      <p:sp>
        <p:nvSpPr>
          <p:cNvPr id="7" name="Text 4"/>
          <p:cNvSpPr/>
          <p:nvPr/>
        </p:nvSpPr>
        <p:spPr>
          <a:xfrm>
            <a:off x="793790" y="4728805"/>
            <a:ext cx="4182189" cy="1905238"/>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«Un testimonio que no es nutrido diariamente "por la buena palabra de Dios" puede desmoronarse a una velocidad aterradora. El antídoto está claro: necesitamos experiencias cotidianas de adoración y estudio del Evangelio.»</a:t>
            </a:r>
            <a:endParaRPr lang="en-US" sz="1550" dirty="0"/>
          </a:p>
        </p:txBody>
      </p:sp>
      <p:sp>
        <p:nvSpPr>
          <p:cNvPr id="8" name="Text 5"/>
          <p:cNvSpPr/>
          <p:nvPr/>
        </p:nvSpPr>
        <p:spPr>
          <a:xfrm>
            <a:off x="793790" y="6753106"/>
            <a:ext cx="4182189" cy="635079"/>
          </a:xfrm>
          <a:prstGeom prst="rect">
            <a:avLst/>
          </a:prstGeom>
          <a:noFill/>
          <a:ln/>
        </p:spPr>
        <p:txBody>
          <a:bodyPr wrap="square" lIns="0" tIns="0" rIns="0" bIns="0" rtlCol="0" anchor="t"/>
          <a:lstStyle/>
          <a:p>
            <a:pPr marL="0" indent="0" algn="l">
              <a:lnSpc>
                <a:spcPts val="2500"/>
              </a:lnSpc>
              <a:buNone/>
            </a:pPr>
            <a:r>
              <a:rPr lang="en-US" sz="1550" i="1" dirty="0">
                <a:solidFill>
                  <a:srgbClr val="D6E5EF"/>
                </a:solidFill>
                <a:latin typeface="Roboto" pitchFamily="34" charset="0"/>
                <a:ea typeface="Roboto" pitchFamily="34" charset="-122"/>
                <a:cs typeface="Roboto" pitchFamily="34" charset="-120"/>
              </a:rPr>
              <a:t>— «El poder del ímpetu espiritual», Liahona, mayo 2022</a:t>
            </a:r>
            <a:endParaRPr lang="en-US" sz="1550" dirty="0"/>
          </a:p>
        </p:txBody>
      </p:sp>
      <p:sp>
        <p:nvSpPr>
          <p:cNvPr id="10" name="Text 6"/>
          <p:cNvSpPr/>
          <p:nvPr/>
        </p:nvSpPr>
        <p:spPr>
          <a:xfrm>
            <a:off x="5223986" y="4299585"/>
            <a:ext cx="2704386"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Élder Dieter F. Uchtdorf</a:t>
            </a:r>
            <a:endParaRPr lang="en-US" sz="1950" dirty="0"/>
          </a:p>
        </p:txBody>
      </p:sp>
      <p:sp>
        <p:nvSpPr>
          <p:cNvPr id="11" name="Text 7"/>
          <p:cNvSpPr/>
          <p:nvPr/>
        </p:nvSpPr>
        <p:spPr>
          <a:xfrm>
            <a:off x="5223986" y="4728805"/>
            <a:ext cx="4182308" cy="1587698"/>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«Lo que mantuvo vivos a los hijos de Israel fue el pequeño y sencillo milagro del maná. El pan de cada día se prepara y se sirve mejor en el hogar. La fe se fomenta un bocado a la vez, en momentos pequeños y sencillos.»</a:t>
            </a:r>
            <a:endParaRPr lang="en-US" sz="1550" dirty="0"/>
          </a:p>
        </p:txBody>
      </p:sp>
      <p:sp>
        <p:nvSpPr>
          <p:cNvPr id="12" name="Text 8"/>
          <p:cNvSpPr/>
          <p:nvPr/>
        </p:nvSpPr>
        <p:spPr>
          <a:xfrm>
            <a:off x="5223986" y="6435566"/>
            <a:ext cx="4182308" cy="635079"/>
          </a:xfrm>
          <a:prstGeom prst="rect">
            <a:avLst/>
          </a:prstGeom>
          <a:noFill/>
          <a:ln/>
        </p:spPr>
        <p:txBody>
          <a:bodyPr wrap="square" lIns="0" tIns="0" rIns="0" bIns="0" rtlCol="0" anchor="t"/>
          <a:lstStyle/>
          <a:p>
            <a:pPr marL="0" indent="0" algn="l">
              <a:lnSpc>
                <a:spcPts val="2500"/>
              </a:lnSpc>
              <a:buNone/>
            </a:pPr>
            <a:r>
              <a:rPr lang="en-US" sz="1550" i="1" dirty="0">
                <a:solidFill>
                  <a:srgbClr val="D6E5EF"/>
                </a:solidFill>
                <a:latin typeface="Roboto" pitchFamily="34" charset="0"/>
                <a:ea typeface="Roboto" pitchFamily="34" charset="-122"/>
                <a:cs typeface="Roboto" pitchFamily="34" charset="-120"/>
              </a:rPr>
              <a:t>— «Jesucristo es la fortaleza de los padres», Liahona, mayo 2023</a:t>
            </a:r>
            <a:endParaRPr lang="en-US" sz="1550" dirty="0"/>
          </a:p>
        </p:txBody>
      </p:sp>
      <p:sp>
        <p:nvSpPr>
          <p:cNvPr id="14" name="Text 9"/>
          <p:cNvSpPr/>
          <p:nvPr/>
        </p:nvSpPr>
        <p:spPr>
          <a:xfrm>
            <a:off x="9654302" y="429958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Élder Ulisses Soares</a:t>
            </a:r>
            <a:endParaRPr lang="en-US" sz="1950" dirty="0"/>
          </a:p>
        </p:txBody>
      </p:sp>
      <p:sp>
        <p:nvSpPr>
          <p:cNvPr id="15" name="Text 10"/>
          <p:cNvSpPr/>
          <p:nvPr/>
        </p:nvSpPr>
        <p:spPr>
          <a:xfrm>
            <a:off x="9654302" y="4728805"/>
            <a:ext cx="4182308" cy="1587698"/>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«La vida terrenal es un período de prueba que requerirá una fe inquebrantable en Cristo, incluso en momentos de gran dificultad. Requerirá que sigamos adelante confiando en que Dios proveerá para nuestras necesidades.»</a:t>
            </a:r>
            <a:endParaRPr lang="en-US" sz="1550" dirty="0"/>
          </a:p>
        </p:txBody>
      </p:sp>
      <p:sp>
        <p:nvSpPr>
          <p:cNvPr id="16" name="Text 11"/>
          <p:cNvSpPr/>
          <p:nvPr/>
        </p:nvSpPr>
        <p:spPr>
          <a:xfrm>
            <a:off x="9654302" y="6435566"/>
            <a:ext cx="4182308" cy="635079"/>
          </a:xfrm>
          <a:prstGeom prst="rect">
            <a:avLst/>
          </a:prstGeom>
          <a:noFill/>
          <a:ln/>
        </p:spPr>
        <p:txBody>
          <a:bodyPr wrap="square" lIns="0" tIns="0" rIns="0" bIns="0" rtlCol="0" anchor="t"/>
          <a:lstStyle/>
          <a:p>
            <a:pPr marL="0" indent="0" algn="l">
              <a:lnSpc>
                <a:spcPts val="2500"/>
              </a:lnSpc>
              <a:buNone/>
            </a:pPr>
            <a:r>
              <a:rPr lang="en-US" sz="1550" i="1" dirty="0">
                <a:solidFill>
                  <a:srgbClr val="D6E5EF"/>
                </a:solidFill>
                <a:latin typeface="Roboto" pitchFamily="34" charset="0"/>
                <a:ea typeface="Roboto" pitchFamily="34" charset="-122"/>
                <a:cs typeface="Roboto" pitchFamily="34" charset="-120"/>
              </a:rPr>
              <a:t>— «Confiar en Dios firmemente», Liahona, mayo 2017</a:t>
            </a:r>
            <a:endParaRPr lang="en-US" sz="1550" dirty="0"/>
          </a:p>
        </p:txBody>
      </p:sp>
      <p:pic>
        <p:nvPicPr>
          <p:cNvPr id="20" name="Imagen 19">
            <a:extLst>
              <a:ext uri="{FF2B5EF4-FFF2-40B4-BE49-F238E27FC236}">
                <a16:creationId xmlns:a16="http://schemas.microsoft.com/office/drawing/2014/main" id="{C7947818-94F8-5F2F-121C-8C3837C121E6}"/>
              </a:ext>
            </a:extLst>
          </p:cNvPr>
          <p:cNvPicPr>
            <a:picLocks noChangeAspect="1"/>
          </p:cNvPicPr>
          <p:nvPr/>
        </p:nvPicPr>
        <p:blipFill>
          <a:blip r:embed="rId3"/>
          <a:stretch>
            <a:fillRect/>
          </a:stretch>
        </p:blipFill>
        <p:spPr>
          <a:xfrm>
            <a:off x="5696923" y="1976549"/>
            <a:ext cx="1758511" cy="2198139"/>
          </a:xfrm>
          <a:prstGeom prst="rect">
            <a:avLst/>
          </a:prstGeom>
        </p:spPr>
      </p:pic>
      <p:pic>
        <p:nvPicPr>
          <p:cNvPr id="22" name="Imagen 21">
            <a:extLst>
              <a:ext uri="{FF2B5EF4-FFF2-40B4-BE49-F238E27FC236}">
                <a16:creationId xmlns:a16="http://schemas.microsoft.com/office/drawing/2014/main" id="{083CDE61-F5A8-D6AA-8262-8552BE6DD06E}"/>
              </a:ext>
            </a:extLst>
          </p:cNvPr>
          <p:cNvPicPr>
            <a:picLocks noChangeAspect="1"/>
          </p:cNvPicPr>
          <p:nvPr/>
        </p:nvPicPr>
        <p:blipFill>
          <a:blip r:embed="rId4"/>
          <a:stretch>
            <a:fillRect/>
          </a:stretch>
        </p:blipFill>
        <p:spPr>
          <a:xfrm>
            <a:off x="1444288" y="1976611"/>
            <a:ext cx="2095500" cy="2181225"/>
          </a:xfrm>
          <a:prstGeom prst="rect">
            <a:avLst/>
          </a:prstGeom>
        </p:spPr>
      </p:pic>
      <p:pic>
        <p:nvPicPr>
          <p:cNvPr id="1026" name="Picture 2" descr="Élder Ulisses Soares">
            <a:extLst>
              <a:ext uri="{FF2B5EF4-FFF2-40B4-BE49-F238E27FC236}">
                <a16:creationId xmlns:a16="http://schemas.microsoft.com/office/drawing/2014/main" id="{2776AD3E-B87B-57F2-522C-F3249886AA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542" y="1908125"/>
            <a:ext cx="1854914" cy="2318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799267"/>
            <a:ext cx="1868805" cy="373142"/>
          </a:xfrm>
          <a:prstGeom prst="roundRect">
            <a:avLst>
              <a:gd name="adj" fmla="val 6383"/>
            </a:avLst>
          </a:prstGeom>
          <a:solidFill>
            <a:srgbClr val="082545"/>
          </a:solidFill>
          <a:ln/>
        </p:spPr>
      </p:sp>
      <p:sp>
        <p:nvSpPr>
          <p:cNvPr id="3" name="Text 1"/>
          <p:cNvSpPr/>
          <p:nvPr/>
        </p:nvSpPr>
        <p:spPr>
          <a:xfrm>
            <a:off x="912852" y="858798"/>
            <a:ext cx="1630680" cy="254079"/>
          </a:xfrm>
          <a:prstGeom prst="rect">
            <a:avLst/>
          </a:prstGeom>
          <a:noFill/>
          <a:ln/>
        </p:spPr>
        <p:txBody>
          <a:bodyPr wrap="none" lIns="0" tIns="0" rIns="0" bIns="0" rtlCol="0" anchor="t"/>
          <a:lstStyle/>
          <a:p>
            <a:pPr marL="0" indent="0" algn="l">
              <a:lnSpc>
                <a:spcPts val="2000"/>
              </a:lnSpc>
              <a:buNone/>
            </a:pPr>
            <a:r>
              <a:rPr lang="en-US" sz="1250" dirty="0">
                <a:solidFill>
                  <a:srgbClr val="D6E5EF"/>
                </a:solidFill>
                <a:latin typeface="Roboto" pitchFamily="34" charset="0"/>
                <a:ea typeface="Roboto" pitchFamily="34" charset="-122"/>
                <a:cs typeface="Roboto" pitchFamily="34" charset="-120"/>
              </a:rPr>
              <a:t>ACTIVIDAD PERSONAL</a:t>
            </a:r>
            <a:endParaRPr lang="en-US" sz="1250" dirty="0"/>
          </a:p>
        </p:txBody>
      </p:sp>
      <p:sp>
        <p:nvSpPr>
          <p:cNvPr id="4" name="Text 2"/>
          <p:cNvSpPr/>
          <p:nvPr/>
        </p:nvSpPr>
        <p:spPr>
          <a:xfrm>
            <a:off x="793790" y="1251704"/>
            <a:ext cx="8322350" cy="620078"/>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Tu espíritu necesita alimento diario</a:t>
            </a:r>
            <a:endParaRPr lang="en-US" sz="3900" dirty="0"/>
          </a:p>
        </p:txBody>
      </p:sp>
      <p:sp>
        <p:nvSpPr>
          <p:cNvPr id="5" name="Text 3"/>
          <p:cNvSpPr/>
          <p:nvPr/>
        </p:nvSpPr>
        <p:spPr>
          <a:xfrm>
            <a:off x="793790" y="216943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Dibuja una hogaza de pan en tu diario. Alrededor, escribe lo que Dios te invita a hacer </a:t>
            </a:r>
            <a:r>
              <a:rPr lang="en-US" sz="1550" b="1" dirty="0">
                <a:solidFill>
                  <a:srgbClr val="D6E5EF"/>
                </a:solidFill>
                <a:latin typeface="Roboto" pitchFamily="34" charset="0"/>
                <a:ea typeface="Roboto" pitchFamily="34" charset="-122"/>
                <a:cs typeface="Roboto" pitchFamily="34" charset="-120"/>
              </a:rPr>
              <a:t>cada día</a:t>
            </a:r>
            <a:r>
              <a:rPr lang="en-US" sz="1550" dirty="0">
                <a:solidFill>
                  <a:srgbClr val="D6E5EF"/>
                </a:solidFill>
                <a:latin typeface="Roboto" pitchFamily="34" charset="0"/>
                <a:ea typeface="Roboto" pitchFamily="34" charset="-122"/>
                <a:cs typeface="Roboto" pitchFamily="34" charset="-120"/>
              </a:rPr>
              <a:t> para nutrir tu espíritu. Esta actividad sencilla puede convertirse en un recordatorio visual de tu compromiso con el Señor.</a:t>
            </a:r>
            <a:endParaRPr lang="en-US" sz="1550" dirty="0"/>
          </a:p>
        </p:txBody>
      </p:sp>
      <p:sp>
        <p:nvSpPr>
          <p:cNvPr id="6" name="Shape 4"/>
          <p:cNvSpPr/>
          <p:nvPr/>
        </p:nvSpPr>
        <p:spPr>
          <a:xfrm>
            <a:off x="793790" y="3027759"/>
            <a:ext cx="6422231" cy="2102048"/>
          </a:xfrm>
          <a:prstGeom prst="roundRect">
            <a:avLst>
              <a:gd name="adj" fmla="val 1416"/>
            </a:avLst>
          </a:prstGeom>
          <a:solidFill>
            <a:srgbClr val="202733"/>
          </a:solidFill>
          <a:ln w="22860">
            <a:solidFill>
              <a:srgbClr val="585F6B"/>
            </a:solidFill>
            <a:prstDash val="solid"/>
          </a:ln>
        </p:spPr>
      </p:sp>
      <p:sp>
        <p:nvSpPr>
          <p:cNvPr id="7" name="Shape 5"/>
          <p:cNvSpPr/>
          <p:nvPr/>
        </p:nvSpPr>
        <p:spPr>
          <a:xfrm>
            <a:off x="816650" y="3050619"/>
            <a:ext cx="6376511" cy="595313"/>
          </a:xfrm>
          <a:prstGeom prst="roundRect">
            <a:avLst>
              <a:gd name="adj" fmla="val 393"/>
            </a:avLst>
          </a:prstGeom>
          <a:solidFill>
            <a:srgbClr val="3F4652"/>
          </a:solidFill>
          <a:ln/>
        </p:spPr>
      </p:sp>
      <p:sp>
        <p:nvSpPr>
          <p:cNvPr id="8" name="Text 6"/>
          <p:cNvSpPr/>
          <p:nvPr/>
        </p:nvSpPr>
        <p:spPr>
          <a:xfrm>
            <a:off x="3856077" y="3162181"/>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D6E5EF"/>
                </a:solidFill>
                <a:latin typeface="Roboto Slab" pitchFamily="34" charset="0"/>
                <a:ea typeface="Roboto Slab" pitchFamily="34" charset="-122"/>
                <a:cs typeface="Roboto Slab" pitchFamily="34" charset="-120"/>
              </a:rPr>
              <a:t>1</a:t>
            </a:r>
            <a:endParaRPr lang="en-US" sz="2300" dirty="0"/>
          </a:p>
        </p:txBody>
      </p:sp>
      <p:sp>
        <p:nvSpPr>
          <p:cNvPr id="9" name="Text 7"/>
          <p:cNvSpPr/>
          <p:nvPr/>
        </p:nvSpPr>
        <p:spPr>
          <a:xfrm>
            <a:off x="1015008" y="384429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Deuteronomio 8:3</a:t>
            </a:r>
            <a:endParaRPr lang="en-US" sz="1950" dirty="0"/>
          </a:p>
        </p:txBody>
      </p:sp>
      <p:sp>
        <p:nvSpPr>
          <p:cNvPr id="10" name="Text 8"/>
          <p:cNvSpPr/>
          <p:nvPr/>
        </p:nvSpPr>
        <p:spPr>
          <a:xfrm>
            <a:off x="1015008" y="4273510"/>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«No solo de pan vivirá el hombre, sino de toda palabra que sale de la boca de Jehová.»</a:t>
            </a:r>
            <a:endParaRPr lang="en-US" sz="1550" dirty="0"/>
          </a:p>
        </p:txBody>
      </p:sp>
      <p:sp>
        <p:nvSpPr>
          <p:cNvPr id="11" name="Shape 9"/>
          <p:cNvSpPr/>
          <p:nvPr/>
        </p:nvSpPr>
        <p:spPr>
          <a:xfrm>
            <a:off x="7414379" y="3027759"/>
            <a:ext cx="6422231" cy="2102048"/>
          </a:xfrm>
          <a:prstGeom prst="roundRect">
            <a:avLst>
              <a:gd name="adj" fmla="val 1416"/>
            </a:avLst>
          </a:prstGeom>
          <a:solidFill>
            <a:srgbClr val="202733"/>
          </a:solidFill>
          <a:ln w="22860">
            <a:solidFill>
              <a:srgbClr val="585F6B"/>
            </a:solidFill>
            <a:prstDash val="solid"/>
          </a:ln>
        </p:spPr>
      </p:sp>
      <p:sp>
        <p:nvSpPr>
          <p:cNvPr id="12" name="Shape 10"/>
          <p:cNvSpPr/>
          <p:nvPr/>
        </p:nvSpPr>
        <p:spPr>
          <a:xfrm>
            <a:off x="7437239" y="3050619"/>
            <a:ext cx="6376511" cy="595313"/>
          </a:xfrm>
          <a:prstGeom prst="roundRect">
            <a:avLst>
              <a:gd name="adj" fmla="val 393"/>
            </a:avLst>
          </a:prstGeom>
          <a:solidFill>
            <a:srgbClr val="3F4652"/>
          </a:solidFill>
          <a:ln/>
        </p:spPr>
      </p:sp>
      <p:sp>
        <p:nvSpPr>
          <p:cNvPr id="13" name="Text 11"/>
          <p:cNvSpPr/>
          <p:nvPr/>
        </p:nvSpPr>
        <p:spPr>
          <a:xfrm>
            <a:off x="10476667" y="3162181"/>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D6E5EF"/>
                </a:solidFill>
                <a:latin typeface="Roboto Slab" pitchFamily="34" charset="0"/>
                <a:ea typeface="Roboto Slab" pitchFamily="34" charset="-122"/>
                <a:cs typeface="Roboto Slab" pitchFamily="34" charset="-120"/>
              </a:rPr>
              <a:t>2</a:t>
            </a:r>
            <a:endParaRPr lang="en-US" sz="2300" dirty="0"/>
          </a:p>
        </p:txBody>
      </p:sp>
      <p:sp>
        <p:nvSpPr>
          <p:cNvPr id="14" name="Text 12"/>
          <p:cNvSpPr/>
          <p:nvPr/>
        </p:nvSpPr>
        <p:spPr>
          <a:xfrm>
            <a:off x="7635597" y="3844290"/>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1 Nefi 17:3</a:t>
            </a:r>
            <a:endParaRPr lang="en-US" sz="1950" dirty="0"/>
          </a:p>
        </p:txBody>
      </p:sp>
      <p:sp>
        <p:nvSpPr>
          <p:cNvPr id="15" name="Text 13"/>
          <p:cNvSpPr/>
          <p:nvPr/>
        </p:nvSpPr>
        <p:spPr>
          <a:xfrm>
            <a:off x="7635597" y="4273510"/>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Dios prepara el camino y provee según la fe y la obediencia de sus hijos.</a:t>
            </a:r>
            <a:endParaRPr lang="en-US" sz="1550" dirty="0"/>
          </a:p>
        </p:txBody>
      </p:sp>
      <p:sp>
        <p:nvSpPr>
          <p:cNvPr id="16" name="Shape 14"/>
          <p:cNvSpPr/>
          <p:nvPr/>
        </p:nvSpPr>
        <p:spPr>
          <a:xfrm>
            <a:off x="793790" y="5328166"/>
            <a:ext cx="6422231" cy="2102048"/>
          </a:xfrm>
          <a:prstGeom prst="roundRect">
            <a:avLst>
              <a:gd name="adj" fmla="val 1416"/>
            </a:avLst>
          </a:prstGeom>
          <a:solidFill>
            <a:srgbClr val="202733"/>
          </a:solidFill>
          <a:ln w="22860">
            <a:solidFill>
              <a:srgbClr val="585F6B"/>
            </a:solidFill>
            <a:prstDash val="solid"/>
          </a:ln>
        </p:spPr>
      </p:sp>
      <p:sp>
        <p:nvSpPr>
          <p:cNvPr id="17" name="Shape 15"/>
          <p:cNvSpPr/>
          <p:nvPr/>
        </p:nvSpPr>
        <p:spPr>
          <a:xfrm>
            <a:off x="816650" y="5351026"/>
            <a:ext cx="6376511" cy="595313"/>
          </a:xfrm>
          <a:prstGeom prst="roundRect">
            <a:avLst>
              <a:gd name="adj" fmla="val 393"/>
            </a:avLst>
          </a:prstGeom>
          <a:solidFill>
            <a:srgbClr val="3F4652"/>
          </a:solidFill>
          <a:ln/>
        </p:spPr>
      </p:sp>
      <p:sp>
        <p:nvSpPr>
          <p:cNvPr id="18" name="Text 16"/>
          <p:cNvSpPr/>
          <p:nvPr/>
        </p:nvSpPr>
        <p:spPr>
          <a:xfrm>
            <a:off x="3856077" y="5462588"/>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D6E5EF"/>
                </a:solidFill>
                <a:latin typeface="Roboto Slab" pitchFamily="34" charset="0"/>
                <a:ea typeface="Roboto Slab" pitchFamily="34" charset="-122"/>
                <a:cs typeface="Roboto Slab" pitchFamily="34" charset="-120"/>
              </a:rPr>
              <a:t>3</a:t>
            </a:r>
            <a:endParaRPr lang="en-US" sz="2300" dirty="0"/>
          </a:p>
        </p:txBody>
      </p:sp>
      <p:sp>
        <p:nvSpPr>
          <p:cNvPr id="19" name="Text 17"/>
          <p:cNvSpPr/>
          <p:nvPr/>
        </p:nvSpPr>
        <p:spPr>
          <a:xfrm>
            <a:off x="1015008" y="614469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2 Nefi 32:3</a:t>
            </a:r>
            <a:endParaRPr lang="en-US" sz="1950" dirty="0"/>
          </a:p>
        </p:txBody>
      </p:sp>
      <p:sp>
        <p:nvSpPr>
          <p:cNvPr id="20" name="Text 18"/>
          <p:cNvSpPr/>
          <p:nvPr/>
        </p:nvSpPr>
        <p:spPr>
          <a:xfrm>
            <a:off x="1015008" y="6573917"/>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«Alimentaos de la palabra de Cristo… porque os mostrará todas las cosas que debéis hacer.»</a:t>
            </a:r>
            <a:endParaRPr lang="en-US" sz="1550" dirty="0"/>
          </a:p>
        </p:txBody>
      </p:sp>
      <p:sp>
        <p:nvSpPr>
          <p:cNvPr id="21" name="Shape 19"/>
          <p:cNvSpPr/>
          <p:nvPr/>
        </p:nvSpPr>
        <p:spPr>
          <a:xfrm>
            <a:off x="7414379" y="5328166"/>
            <a:ext cx="6422231" cy="2102048"/>
          </a:xfrm>
          <a:prstGeom prst="roundRect">
            <a:avLst>
              <a:gd name="adj" fmla="val 1416"/>
            </a:avLst>
          </a:prstGeom>
          <a:solidFill>
            <a:srgbClr val="202733"/>
          </a:solidFill>
          <a:ln w="22860">
            <a:solidFill>
              <a:srgbClr val="585F6B"/>
            </a:solidFill>
            <a:prstDash val="solid"/>
          </a:ln>
        </p:spPr>
      </p:sp>
      <p:sp>
        <p:nvSpPr>
          <p:cNvPr id="22" name="Shape 20"/>
          <p:cNvSpPr/>
          <p:nvPr/>
        </p:nvSpPr>
        <p:spPr>
          <a:xfrm>
            <a:off x="7437239" y="5351026"/>
            <a:ext cx="6376511" cy="595313"/>
          </a:xfrm>
          <a:prstGeom prst="roundRect">
            <a:avLst>
              <a:gd name="adj" fmla="val 393"/>
            </a:avLst>
          </a:prstGeom>
          <a:solidFill>
            <a:srgbClr val="3F4652"/>
          </a:solidFill>
          <a:ln/>
        </p:spPr>
      </p:sp>
      <p:sp>
        <p:nvSpPr>
          <p:cNvPr id="23" name="Text 21"/>
          <p:cNvSpPr/>
          <p:nvPr/>
        </p:nvSpPr>
        <p:spPr>
          <a:xfrm>
            <a:off x="10476667" y="5462588"/>
            <a:ext cx="297656" cy="372070"/>
          </a:xfrm>
          <a:prstGeom prst="rect">
            <a:avLst/>
          </a:prstGeom>
          <a:noFill/>
          <a:ln/>
        </p:spPr>
        <p:txBody>
          <a:bodyPr wrap="none" lIns="0" tIns="0" rIns="0" bIns="0" rtlCol="0" anchor="t"/>
          <a:lstStyle/>
          <a:p>
            <a:pPr marL="0" indent="0" algn="l">
              <a:lnSpc>
                <a:spcPts val="2300"/>
              </a:lnSpc>
              <a:buNone/>
            </a:pPr>
            <a:r>
              <a:rPr lang="en-US" sz="2300" dirty="0">
                <a:solidFill>
                  <a:srgbClr val="D6E5EF"/>
                </a:solidFill>
                <a:latin typeface="Roboto Slab" pitchFamily="34" charset="0"/>
                <a:ea typeface="Roboto Slab" pitchFamily="34" charset="-122"/>
                <a:cs typeface="Roboto Slab" pitchFamily="34" charset="-120"/>
              </a:rPr>
              <a:t>4</a:t>
            </a:r>
            <a:endParaRPr lang="en-US" sz="2300" dirty="0"/>
          </a:p>
        </p:txBody>
      </p:sp>
      <p:sp>
        <p:nvSpPr>
          <p:cNvPr id="24" name="Text 22"/>
          <p:cNvSpPr/>
          <p:nvPr/>
        </p:nvSpPr>
        <p:spPr>
          <a:xfrm>
            <a:off x="7635597" y="614469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Alma 37:36–37</a:t>
            </a:r>
            <a:endParaRPr lang="en-US" sz="1950" dirty="0"/>
          </a:p>
        </p:txBody>
      </p:sp>
      <p:sp>
        <p:nvSpPr>
          <p:cNvPr id="25" name="Text 23"/>
          <p:cNvSpPr/>
          <p:nvPr/>
        </p:nvSpPr>
        <p:spPr>
          <a:xfrm>
            <a:off x="7635597" y="6573917"/>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«Consulta con el Señor en todas tus cosas… y el bien que hagas te levantará al último día.»</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743188"/>
            <a:ext cx="2017990" cy="373142"/>
          </a:xfrm>
          <a:prstGeom prst="roundRect">
            <a:avLst>
              <a:gd name="adj" fmla="val 6383"/>
            </a:avLst>
          </a:prstGeom>
          <a:solidFill>
            <a:srgbClr val="082545"/>
          </a:solidFill>
          <a:ln/>
        </p:spPr>
      </p:sp>
      <p:sp>
        <p:nvSpPr>
          <p:cNvPr id="3" name="Text 1"/>
          <p:cNvSpPr/>
          <p:nvPr/>
        </p:nvSpPr>
        <p:spPr>
          <a:xfrm>
            <a:off x="912852" y="802719"/>
            <a:ext cx="1779865" cy="254079"/>
          </a:xfrm>
          <a:prstGeom prst="rect">
            <a:avLst/>
          </a:prstGeom>
          <a:noFill/>
          <a:ln/>
        </p:spPr>
        <p:txBody>
          <a:bodyPr wrap="none" lIns="0" tIns="0" rIns="0" bIns="0" rtlCol="0" anchor="t"/>
          <a:lstStyle/>
          <a:p>
            <a:pPr marL="0" indent="0" algn="l">
              <a:lnSpc>
                <a:spcPts val="2000"/>
              </a:lnSpc>
              <a:buNone/>
            </a:pPr>
            <a:r>
              <a:rPr lang="en-US" sz="1250" dirty="0">
                <a:solidFill>
                  <a:srgbClr val="D6E5EF"/>
                </a:solidFill>
                <a:latin typeface="Roboto" pitchFamily="34" charset="0"/>
                <a:ea typeface="Roboto" pitchFamily="34" charset="-122"/>
                <a:cs typeface="Roboto" pitchFamily="34" charset="-120"/>
              </a:rPr>
              <a:t>ILUSTRACIÓN CULTURAL</a:t>
            </a:r>
            <a:endParaRPr lang="en-US" sz="1250" dirty="0"/>
          </a:p>
        </p:txBody>
      </p:sp>
      <p:sp>
        <p:nvSpPr>
          <p:cNvPr id="4" name="Text 2"/>
          <p:cNvSpPr/>
          <p:nvPr/>
        </p:nvSpPr>
        <p:spPr>
          <a:xfrm>
            <a:off x="793790" y="1195626"/>
            <a:ext cx="7740729" cy="620078"/>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The Martian: vivir un día a la vez</a:t>
            </a:r>
            <a:endParaRPr lang="en-US" sz="3900" dirty="0"/>
          </a:p>
        </p:txBody>
      </p:sp>
      <p:pic>
        <p:nvPicPr>
          <p:cNvPr id="5" name="Image 0" descr="preencoded.png"/>
          <p:cNvPicPr>
            <a:picLocks noChangeAspect="1"/>
          </p:cNvPicPr>
          <p:nvPr/>
        </p:nvPicPr>
        <p:blipFill>
          <a:blip r:embed="rId3"/>
          <a:stretch>
            <a:fillRect/>
          </a:stretch>
        </p:blipFill>
        <p:spPr>
          <a:xfrm>
            <a:off x="793790" y="2336602"/>
            <a:ext cx="4926568" cy="4926568"/>
          </a:xfrm>
          <a:prstGeom prst="rect">
            <a:avLst/>
          </a:prstGeom>
        </p:spPr>
      </p:pic>
      <p:sp>
        <p:nvSpPr>
          <p:cNvPr id="6" name="Text 3"/>
          <p:cNvSpPr/>
          <p:nvPr/>
        </p:nvSpPr>
        <p:spPr>
          <a:xfrm>
            <a:off x="6212086" y="2291953"/>
            <a:ext cx="7632025" cy="95261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Mark Watney, el protagonista de </a:t>
            </a:r>
            <a:r>
              <a:rPr lang="en-US" sz="1550" i="1" dirty="0">
                <a:solidFill>
                  <a:srgbClr val="D6E5EF"/>
                </a:solidFill>
                <a:latin typeface="Roboto" pitchFamily="34" charset="0"/>
                <a:ea typeface="Roboto" pitchFamily="34" charset="-122"/>
                <a:cs typeface="Roboto" pitchFamily="34" charset="-120"/>
              </a:rPr>
              <a:t>The Martian</a:t>
            </a:r>
            <a:r>
              <a:rPr lang="en-US" sz="1550" dirty="0">
                <a:solidFill>
                  <a:srgbClr val="D6E5EF"/>
                </a:solidFill>
                <a:latin typeface="Roboto" pitchFamily="34" charset="0"/>
                <a:ea typeface="Roboto" pitchFamily="34" charset="-122"/>
                <a:cs typeface="Roboto" pitchFamily="34" charset="-120"/>
              </a:rPr>
              <a:t>, sobrevive en Marte resolviendo un problema a la vez, confiando en los recursos del día. No puede acumular oxígeno ni comida para meses; debe confiar en lo que puede producir </a:t>
            </a:r>
            <a:r>
              <a:rPr lang="en-US" sz="1550" b="1" dirty="0">
                <a:solidFill>
                  <a:srgbClr val="D6E5EF"/>
                </a:solidFill>
                <a:latin typeface="Roboto" pitchFamily="34" charset="0"/>
                <a:ea typeface="Roboto" pitchFamily="34" charset="-122"/>
                <a:cs typeface="Roboto" pitchFamily="34" charset="-120"/>
              </a:rPr>
              <a:t>hoy</a:t>
            </a:r>
            <a:r>
              <a:rPr lang="en-US" sz="1550" dirty="0">
                <a:solidFill>
                  <a:srgbClr val="D6E5EF"/>
                </a:solidFill>
                <a:latin typeface="Roboto" pitchFamily="34" charset="0"/>
                <a:ea typeface="Roboto" pitchFamily="34" charset="-122"/>
                <a:cs typeface="Roboto" pitchFamily="34" charset="-120"/>
              </a:rPr>
              <a:t>.</a:t>
            </a:r>
            <a:endParaRPr lang="en-US" sz="1550" dirty="0"/>
          </a:p>
        </p:txBody>
      </p:sp>
      <p:sp>
        <p:nvSpPr>
          <p:cNvPr id="7" name="Text 4"/>
          <p:cNvSpPr/>
          <p:nvPr/>
        </p:nvSpPr>
        <p:spPr>
          <a:xfrm>
            <a:off x="6212086" y="3442930"/>
            <a:ext cx="2656165" cy="310158"/>
          </a:xfrm>
          <a:prstGeom prst="rect">
            <a:avLst/>
          </a:prstGeom>
          <a:noFill/>
          <a:ln/>
        </p:spPr>
        <p:txBody>
          <a:bodyPr wrap="none" lIns="0" tIns="0" rIns="0" bIns="0" rtlCol="0" anchor="t"/>
          <a:lstStyle/>
          <a:p>
            <a:pPr marL="0" indent="0" algn="l">
              <a:lnSpc>
                <a:spcPts val="2400"/>
              </a:lnSpc>
              <a:buNone/>
            </a:pPr>
            <a:r>
              <a:rPr lang="en-US" sz="1950" dirty="0">
                <a:solidFill>
                  <a:srgbClr val="76B9FF"/>
                </a:solidFill>
                <a:latin typeface="Roboto Slab" pitchFamily="34" charset="0"/>
                <a:ea typeface="Roboto Slab" pitchFamily="34" charset="-122"/>
                <a:cs typeface="Roboto Slab" pitchFamily="34" charset="-120"/>
              </a:rPr>
              <a:t>Paralelos con Éxodo 16</a:t>
            </a:r>
            <a:endParaRPr lang="en-US" sz="1950" dirty="0"/>
          </a:p>
        </p:txBody>
      </p:sp>
      <p:sp>
        <p:nvSpPr>
          <p:cNvPr id="8" name="Shape 5"/>
          <p:cNvSpPr/>
          <p:nvPr/>
        </p:nvSpPr>
        <p:spPr>
          <a:xfrm>
            <a:off x="6212086" y="3976330"/>
            <a:ext cx="3716774" cy="706874"/>
          </a:xfrm>
          <a:prstGeom prst="roundRect">
            <a:avLst>
              <a:gd name="adj" fmla="val 4212"/>
            </a:avLst>
          </a:prstGeom>
          <a:solidFill>
            <a:srgbClr val="3F4652"/>
          </a:solidFill>
          <a:ln/>
        </p:spPr>
      </p:sp>
      <p:sp>
        <p:nvSpPr>
          <p:cNvPr id="9" name="Text 6"/>
          <p:cNvSpPr/>
          <p:nvPr/>
        </p:nvSpPr>
        <p:spPr>
          <a:xfrm>
            <a:off x="6410444" y="417468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Provisión diaria</a:t>
            </a:r>
            <a:endParaRPr lang="en-US" sz="1950" dirty="0"/>
          </a:p>
        </p:txBody>
      </p:sp>
      <p:sp>
        <p:nvSpPr>
          <p:cNvPr id="10" name="Shape 7"/>
          <p:cNvSpPr/>
          <p:nvPr/>
        </p:nvSpPr>
        <p:spPr>
          <a:xfrm>
            <a:off x="10127218" y="3976330"/>
            <a:ext cx="3716893" cy="706874"/>
          </a:xfrm>
          <a:prstGeom prst="roundRect">
            <a:avLst>
              <a:gd name="adj" fmla="val 4212"/>
            </a:avLst>
          </a:prstGeom>
          <a:solidFill>
            <a:srgbClr val="3F4652"/>
          </a:solidFill>
          <a:ln/>
        </p:spPr>
      </p:sp>
      <p:sp>
        <p:nvSpPr>
          <p:cNvPr id="11" name="Text 8"/>
          <p:cNvSpPr/>
          <p:nvPr/>
        </p:nvSpPr>
        <p:spPr>
          <a:xfrm>
            <a:off x="10325576" y="417468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No acumular</a:t>
            </a:r>
            <a:endParaRPr lang="en-US" sz="1950" dirty="0"/>
          </a:p>
        </p:txBody>
      </p:sp>
      <p:sp>
        <p:nvSpPr>
          <p:cNvPr id="12" name="Shape 9"/>
          <p:cNvSpPr/>
          <p:nvPr/>
        </p:nvSpPr>
        <p:spPr>
          <a:xfrm>
            <a:off x="6212086" y="4881563"/>
            <a:ext cx="3716774" cy="706874"/>
          </a:xfrm>
          <a:prstGeom prst="roundRect">
            <a:avLst>
              <a:gd name="adj" fmla="val 4212"/>
            </a:avLst>
          </a:prstGeom>
          <a:solidFill>
            <a:srgbClr val="3F4652"/>
          </a:solidFill>
          <a:ln/>
        </p:spPr>
      </p:sp>
      <p:sp>
        <p:nvSpPr>
          <p:cNvPr id="13" name="Text 10"/>
          <p:cNvSpPr/>
          <p:nvPr/>
        </p:nvSpPr>
        <p:spPr>
          <a:xfrm>
            <a:off x="6410444" y="507992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Disciplina constante</a:t>
            </a:r>
            <a:endParaRPr lang="en-US" sz="1950" dirty="0"/>
          </a:p>
        </p:txBody>
      </p:sp>
      <p:sp>
        <p:nvSpPr>
          <p:cNvPr id="14" name="Shape 11"/>
          <p:cNvSpPr/>
          <p:nvPr/>
        </p:nvSpPr>
        <p:spPr>
          <a:xfrm>
            <a:off x="10127218" y="4881563"/>
            <a:ext cx="3716893" cy="706874"/>
          </a:xfrm>
          <a:prstGeom prst="roundRect">
            <a:avLst>
              <a:gd name="adj" fmla="val 4212"/>
            </a:avLst>
          </a:prstGeom>
          <a:solidFill>
            <a:srgbClr val="3F4652"/>
          </a:solidFill>
          <a:ln/>
        </p:spPr>
      </p:sp>
      <p:sp>
        <p:nvSpPr>
          <p:cNvPr id="15" name="Text 12"/>
          <p:cNvSpPr/>
          <p:nvPr/>
        </p:nvSpPr>
        <p:spPr>
          <a:xfrm>
            <a:off x="10325576" y="507992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Esperanza activa</a:t>
            </a:r>
            <a:endParaRPr lang="en-US" sz="1950" dirty="0"/>
          </a:p>
        </p:txBody>
      </p:sp>
      <p:sp>
        <p:nvSpPr>
          <p:cNvPr id="16" name="Shape 13"/>
          <p:cNvSpPr/>
          <p:nvPr/>
        </p:nvSpPr>
        <p:spPr>
          <a:xfrm>
            <a:off x="6212086" y="5786795"/>
            <a:ext cx="7632025" cy="706874"/>
          </a:xfrm>
          <a:prstGeom prst="roundRect">
            <a:avLst>
              <a:gd name="adj" fmla="val 4212"/>
            </a:avLst>
          </a:prstGeom>
          <a:solidFill>
            <a:srgbClr val="3F4652"/>
          </a:solidFill>
          <a:ln/>
        </p:spPr>
      </p:sp>
      <p:sp>
        <p:nvSpPr>
          <p:cNvPr id="17" name="Text 14"/>
          <p:cNvSpPr/>
          <p:nvPr/>
        </p:nvSpPr>
        <p:spPr>
          <a:xfrm>
            <a:off x="6410444" y="598515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Pequeños milagros</a:t>
            </a:r>
            <a:endParaRPr lang="en-US" sz="1950" dirty="0"/>
          </a:p>
        </p:txBody>
      </p:sp>
      <p:sp>
        <p:nvSpPr>
          <p:cNvPr id="18" name="Text 15"/>
          <p:cNvSpPr/>
          <p:nvPr/>
        </p:nvSpPr>
        <p:spPr>
          <a:xfrm>
            <a:off x="6509742" y="6716911"/>
            <a:ext cx="7334369" cy="317540"/>
          </a:xfrm>
          <a:prstGeom prst="rect">
            <a:avLst/>
          </a:prstGeom>
          <a:noFill/>
          <a:ln/>
        </p:spPr>
        <p:txBody>
          <a:bodyPr wrap="none" lIns="0" tIns="0" rIns="0" bIns="0" rtlCol="0" anchor="t"/>
          <a:lstStyle/>
          <a:p>
            <a:pPr marL="0" indent="0" algn="l">
              <a:lnSpc>
                <a:spcPts val="2500"/>
              </a:lnSpc>
              <a:buNone/>
            </a:pPr>
            <a:r>
              <a:rPr lang="en-US" sz="1550" b="1" dirty="0">
                <a:solidFill>
                  <a:srgbClr val="D6E5EF"/>
                </a:solidFill>
                <a:latin typeface="Roboto" pitchFamily="34" charset="0"/>
                <a:ea typeface="Roboto" pitchFamily="34" charset="-122"/>
                <a:cs typeface="Roboto" pitchFamily="34" charset="-120"/>
              </a:rPr>
              <a:t>«Sobrevivir es confiar en lo que tenés hoy.»</a:t>
            </a:r>
            <a:endParaRPr lang="en-US" sz="1550" dirty="0"/>
          </a:p>
        </p:txBody>
      </p:sp>
      <p:sp>
        <p:nvSpPr>
          <p:cNvPr id="19" name="Shape 16"/>
          <p:cNvSpPr/>
          <p:nvPr/>
        </p:nvSpPr>
        <p:spPr>
          <a:xfrm>
            <a:off x="6212086" y="6716911"/>
            <a:ext cx="22860" cy="317540"/>
          </a:xfrm>
          <a:prstGeom prst="rect">
            <a:avLst/>
          </a:prstGeom>
          <a:solidFill>
            <a:srgbClr val="66A8EE"/>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683657"/>
            <a:ext cx="2017990" cy="373142"/>
          </a:xfrm>
          <a:prstGeom prst="roundRect">
            <a:avLst>
              <a:gd name="adj" fmla="val 6383"/>
            </a:avLst>
          </a:prstGeom>
          <a:solidFill>
            <a:srgbClr val="082545"/>
          </a:solidFill>
          <a:ln/>
        </p:spPr>
      </p:sp>
      <p:sp>
        <p:nvSpPr>
          <p:cNvPr id="3" name="Text 1"/>
          <p:cNvSpPr/>
          <p:nvPr/>
        </p:nvSpPr>
        <p:spPr>
          <a:xfrm>
            <a:off x="912852" y="743188"/>
            <a:ext cx="1779865" cy="254079"/>
          </a:xfrm>
          <a:prstGeom prst="rect">
            <a:avLst/>
          </a:prstGeom>
          <a:noFill/>
          <a:ln/>
        </p:spPr>
        <p:txBody>
          <a:bodyPr wrap="none" lIns="0" tIns="0" rIns="0" bIns="0" rtlCol="0" anchor="t"/>
          <a:lstStyle/>
          <a:p>
            <a:pPr marL="0" indent="0" algn="l">
              <a:lnSpc>
                <a:spcPts val="2000"/>
              </a:lnSpc>
              <a:buNone/>
            </a:pPr>
            <a:r>
              <a:rPr lang="en-US" sz="1250" dirty="0">
                <a:solidFill>
                  <a:srgbClr val="D6E5EF"/>
                </a:solidFill>
                <a:latin typeface="Roboto" pitchFamily="34" charset="0"/>
                <a:ea typeface="Roboto" pitchFamily="34" charset="-122"/>
                <a:cs typeface="Roboto" pitchFamily="34" charset="-120"/>
              </a:rPr>
              <a:t>ILUSTRACIÓN CULTURAL</a:t>
            </a:r>
            <a:endParaRPr lang="en-US" sz="1250" dirty="0"/>
          </a:p>
        </p:txBody>
      </p:sp>
      <p:sp>
        <p:nvSpPr>
          <p:cNvPr id="4" name="Text 2"/>
          <p:cNvSpPr/>
          <p:nvPr/>
        </p:nvSpPr>
        <p:spPr>
          <a:xfrm>
            <a:off x="793790" y="1136094"/>
            <a:ext cx="10780276" cy="620078"/>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Rock Lee: la disciplina diaria </a:t>
            </a:r>
            <a:r>
              <a:rPr lang="en-US" sz="3900" dirty="0" err="1">
                <a:solidFill>
                  <a:srgbClr val="76B9FF"/>
                </a:solidFill>
                <a:latin typeface="Roboto Slab" pitchFamily="34" charset="0"/>
                <a:ea typeface="Roboto Slab" pitchFamily="34" charset="-122"/>
                <a:cs typeface="Roboto Slab" pitchFamily="34" charset="-120"/>
              </a:rPr>
              <a:t>vence</a:t>
            </a:r>
            <a:r>
              <a:rPr lang="en-US" sz="3900" dirty="0">
                <a:solidFill>
                  <a:srgbClr val="76B9FF"/>
                </a:solidFill>
                <a:latin typeface="Roboto Slab" pitchFamily="34" charset="0"/>
                <a:ea typeface="Roboto Slab" pitchFamily="34" charset="-122"/>
                <a:cs typeface="Roboto Slab" pitchFamily="34" charset="-120"/>
              </a:rPr>
              <a:t> </a:t>
            </a:r>
            <a:r>
              <a:rPr lang="en-US" sz="3900" dirty="0" err="1">
                <a:solidFill>
                  <a:srgbClr val="76B9FF"/>
                </a:solidFill>
                <a:latin typeface="Roboto Slab" pitchFamily="34" charset="0"/>
                <a:ea typeface="Roboto Slab" pitchFamily="34" charset="-122"/>
                <a:cs typeface="Roboto Slab" pitchFamily="34" charset="-120"/>
              </a:rPr>
              <a:t>talento</a:t>
            </a:r>
            <a:r>
              <a:rPr lang="en-US" sz="3900" dirty="0">
                <a:solidFill>
                  <a:srgbClr val="76B9FF"/>
                </a:solidFill>
                <a:latin typeface="Roboto Slab" pitchFamily="34" charset="0"/>
                <a:ea typeface="Roboto Slab" pitchFamily="34" charset="-122"/>
                <a:cs typeface="Roboto Slab" pitchFamily="34" charset="-120"/>
              </a:rPr>
              <a:t> natural</a:t>
            </a:r>
            <a:endParaRPr lang="en-US" sz="3900" dirty="0"/>
          </a:p>
        </p:txBody>
      </p:sp>
      <p:sp>
        <p:nvSpPr>
          <p:cNvPr id="5" name="Text 3"/>
          <p:cNvSpPr/>
          <p:nvPr/>
        </p:nvSpPr>
        <p:spPr>
          <a:xfrm>
            <a:off x="1091446" y="2277070"/>
            <a:ext cx="7334369" cy="317540"/>
          </a:xfrm>
          <a:prstGeom prst="rect">
            <a:avLst/>
          </a:prstGeom>
          <a:noFill/>
          <a:ln/>
        </p:spPr>
        <p:txBody>
          <a:bodyPr wrap="none" lIns="0" tIns="0" rIns="0" bIns="0" rtlCol="0" anchor="t"/>
          <a:lstStyle/>
          <a:p>
            <a:pPr marL="0" indent="0" algn="l">
              <a:lnSpc>
                <a:spcPts val="2500"/>
              </a:lnSpc>
              <a:buNone/>
            </a:pPr>
            <a:r>
              <a:rPr lang="en-US" sz="1550" b="1" dirty="0">
                <a:solidFill>
                  <a:srgbClr val="D6E5EF"/>
                </a:solidFill>
                <a:latin typeface="Roboto" pitchFamily="34" charset="0"/>
                <a:ea typeface="Roboto" pitchFamily="34" charset="-122"/>
                <a:cs typeface="Roboto" pitchFamily="34" charset="-120"/>
              </a:rPr>
              <a:t>«El trabajo duro derrota al talento natural.»</a:t>
            </a:r>
            <a:r>
              <a:rPr lang="en-US" sz="1550" dirty="0">
                <a:solidFill>
                  <a:srgbClr val="D6E5EF"/>
                </a:solidFill>
                <a:latin typeface="Roboto" pitchFamily="34" charset="0"/>
                <a:ea typeface="Roboto" pitchFamily="34" charset="-122"/>
                <a:cs typeface="Roboto" pitchFamily="34" charset="-120"/>
              </a:rPr>
              <a:t> — Rock Lee</a:t>
            </a:r>
            <a:endParaRPr lang="en-US" sz="1550" dirty="0"/>
          </a:p>
        </p:txBody>
      </p:sp>
      <p:sp>
        <p:nvSpPr>
          <p:cNvPr id="6" name="Shape 4"/>
          <p:cNvSpPr/>
          <p:nvPr/>
        </p:nvSpPr>
        <p:spPr>
          <a:xfrm>
            <a:off x="793790" y="2277070"/>
            <a:ext cx="22860" cy="317540"/>
          </a:xfrm>
          <a:prstGeom prst="rect">
            <a:avLst/>
          </a:prstGeom>
          <a:solidFill>
            <a:srgbClr val="66A8EE"/>
          </a:solidFill>
          <a:ln/>
        </p:spPr>
      </p:sp>
      <p:sp>
        <p:nvSpPr>
          <p:cNvPr id="7" name="Text 5"/>
          <p:cNvSpPr/>
          <p:nvPr/>
        </p:nvSpPr>
        <p:spPr>
          <a:xfrm>
            <a:off x="793790" y="2817852"/>
            <a:ext cx="7632025" cy="127015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Rock Lee, personaje de </a:t>
            </a:r>
            <a:r>
              <a:rPr lang="en-US" sz="1550" i="1" dirty="0">
                <a:solidFill>
                  <a:srgbClr val="D6E5EF"/>
                </a:solidFill>
                <a:latin typeface="Roboto" pitchFamily="34" charset="0"/>
                <a:ea typeface="Roboto" pitchFamily="34" charset="-122"/>
                <a:cs typeface="Roboto" pitchFamily="34" charset="-120"/>
              </a:rPr>
              <a:t>Naruto</a:t>
            </a:r>
            <a:r>
              <a:rPr lang="en-US" sz="1550" dirty="0">
                <a:solidFill>
                  <a:srgbClr val="D6E5EF"/>
                </a:solidFill>
                <a:latin typeface="Roboto" pitchFamily="34" charset="0"/>
                <a:ea typeface="Roboto" pitchFamily="34" charset="-122"/>
                <a:cs typeface="Roboto" pitchFamily="34" charset="-120"/>
              </a:rPr>
              <a:t>, no posee habilidades ninja naturales. Sin embargo, mediante la </a:t>
            </a:r>
            <a:r>
              <a:rPr lang="en-US" sz="1550" b="1" dirty="0">
                <a:solidFill>
                  <a:srgbClr val="D6E5EF"/>
                </a:solidFill>
                <a:latin typeface="Roboto" pitchFamily="34" charset="0"/>
                <a:ea typeface="Roboto" pitchFamily="34" charset="-122"/>
                <a:cs typeface="Roboto" pitchFamily="34" charset="-120"/>
              </a:rPr>
              <a:t>disciplina inquebrantable y el esfuerzo diario</a:t>
            </a:r>
            <a:r>
              <a:rPr lang="en-US" sz="1550" dirty="0">
                <a:solidFill>
                  <a:srgbClr val="D6E5EF"/>
                </a:solidFill>
                <a:latin typeface="Roboto" pitchFamily="34" charset="0"/>
                <a:ea typeface="Roboto" pitchFamily="34" charset="-122"/>
                <a:cs typeface="Roboto" pitchFamily="34" charset="-120"/>
              </a:rPr>
              <a:t>, supera a genios dotados. Su historia es un recordatorio poderoso: el progreso no viene de un solo esfuerzo heroico, sino de la constancia día tras día.</a:t>
            </a:r>
            <a:endParaRPr lang="en-US" sz="1550" dirty="0"/>
          </a:p>
        </p:txBody>
      </p:sp>
      <p:sp>
        <p:nvSpPr>
          <p:cNvPr id="8" name="Text 6"/>
          <p:cNvSpPr/>
          <p:nvPr/>
        </p:nvSpPr>
        <p:spPr>
          <a:xfrm>
            <a:off x="793790" y="4286369"/>
            <a:ext cx="2656165" cy="310158"/>
          </a:xfrm>
          <a:prstGeom prst="rect">
            <a:avLst/>
          </a:prstGeom>
          <a:noFill/>
          <a:ln/>
        </p:spPr>
        <p:txBody>
          <a:bodyPr wrap="none" lIns="0" tIns="0" rIns="0" bIns="0" rtlCol="0" anchor="t"/>
          <a:lstStyle/>
          <a:p>
            <a:pPr marL="0" indent="0" algn="l">
              <a:lnSpc>
                <a:spcPts val="2400"/>
              </a:lnSpc>
              <a:buNone/>
            </a:pPr>
            <a:r>
              <a:rPr lang="en-US" sz="1950" dirty="0">
                <a:solidFill>
                  <a:srgbClr val="76B9FF"/>
                </a:solidFill>
                <a:latin typeface="Roboto Slab" pitchFamily="34" charset="0"/>
                <a:ea typeface="Roboto Slab" pitchFamily="34" charset="-122"/>
                <a:cs typeface="Roboto Slab" pitchFamily="34" charset="-120"/>
              </a:rPr>
              <a:t>Paralelos con Éxodo 16</a:t>
            </a:r>
            <a:endParaRPr lang="en-US" sz="1950" dirty="0"/>
          </a:p>
        </p:txBody>
      </p:sp>
      <p:sp>
        <p:nvSpPr>
          <p:cNvPr id="9" name="Shape 7"/>
          <p:cNvSpPr/>
          <p:nvPr/>
        </p:nvSpPr>
        <p:spPr>
          <a:xfrm>
            <a:off x="793790" y="4819769"/>
            <a:ext cx="446484" cy="446484"/>
          </a:xfrm>
          <a:prstGeom prst="roundRect">
            <a:avLst>
              <a:gd name="adj" fmla="val 6668"/>
            </a:avLst>
          </a:prstGeom>
          <a:solidFill>
            <a:srgbClr val="3F4652"/>
          </a:solidFill>
          <a:ln/>
        </p:spPr>
      </p:sp>
      <p:sp>
        <p:nvSpPr>
          <p:cNvPr id="10" name="Text 8"/>
          <p:cNvSpPr/>
          <p:nvPr/>
        </p:nvSpPr>
        <p:spPr>
          <a:xfrm>
            <a:off x="1438632" y="488799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Disciplina diaria</a:t>
            </a:r>
            <a:endParaRPr lang="en-US" sz="1950" dirty="0"/>
          </a:p>
        </p:txBody>
      </p:sp>
      <p:sp>
        <p:nvSpPr>
          <p:cNvPr id="11" name="Text 9"/>
          <p:cNvSpPr/>
          <p:nvPr/>
        </p:nvSpPr>
        <p:spPr>
          <a:xfrm>
            <a:off x="1438632" y="5396508"/>
            <a:ext cx="3047167" cy="63507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El maná caía cada mañana; había que salir a recogerlo.</a:t>
            </a:r>
            <a:endParaRPr lang="en-US" sz="1550" dirty="0"/>
          </a:p>
        </p:txBody>
      </p:sp>
      <p:sp>
        <p:nvSpPr>
          <p:cNvPr id="12" name="Shape 10"/>
          <p:cNvSpPr/>
          <p:nvPr/>
        </p:nvSpPr>
        <p:spPr>
          <a:xfrm>
            <a:off x="4733806" y="4819769"/>
            <a:ext cx="446484" cy="446484"/>
          </a:xfrm>
          <a:prstGeom prst="roundRect">
            <a:avLst>
              <a:gd name="adj" fmla="val 6668"/>
            </a:avLst>
          </a:prstGeom>
          <a:solidFill>
            <a:srgbClr val="3F4652"/>
          </a:solidFill>
          <a:ln/>
        </p:spPr>
      </p:sp>
      <p:sp>
        <p:nvSpPr>
          <p:cNvPr id="13" name="Text 11"/>
          <p:cNvSpPr/>
          <p:nvPr/>
        </p:nvSpPr>
        <p:spPr>
          <a:xfrm>
            <a:off x="5378648" y="488799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Constancia</a:t>
            </a:r>
            <a:endParaRPr lang="en-US" sz="1950" dirty="0"/>
          </a:p>
        </p:txBody>
      </p:sp>
      <p:sp>
        <p:nvSpPr>
          <p:cNvPr id="14" name="Text 12"/>
          <p:cNvSpPr/>
          <p:nvPr/>
        </p:nvSpPr>
        <p:spPr>
          <a:xfrm>
            <a:off x="5378648" y="5396508"/>
            <a:ext cx="3047167" cy="63507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Un día de pereza significaba hambre al día siguiente.</a:t>
            </a:r>
            <a:endParaRPr lang="en-US" sz="1550" dirty="0"/>
          </a:p>
        </p:txBody>
      </p:sp>
      <p:sp>
        <p:nvSpPr>
          <p:cNvPr id="15" name="Shape 13"/>
          <p:cNvSpPr/>
          <p:nvPr/>
        </p:nvSpPr>
        <p:spPr>
          <a:xfrm>
            <a:off x="793790" y="6428423"/>
            <a:ext cx="446484" cy="446484"/>
          </a:xfrm>
          <a:prstGeom prst="roundRect">
            <a:avLst>
              <a:gd name="adj" fmla="val 6668"/>
            </a:avLst>
          </a:prstGeom>
          <a:solidFill>
            <a:srgbClr val="3F4652"/>
          </a:solidFill>
          <a:ln/>
        </p:spPr>
      </p:sp>
      <p:sp>
        <p:nvSpPr>
          <p:cNvPr id="16" name="Text 14"/>
          <p:cNvSpPr/>
          <p:nvPr/>
        </p:nvSpPr>
        <p:spPr>
          <a:xfrm>
            <a:off x="1438632" y="649664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Progreso acumulado</a:t>
            </a:r>
            <a:endParaRPr lang="en-US" sz="1950" dirty="0"/>
          </a:p>
        </p:txBody>
      </p:sp>
      <p:sp>
        <p:nvSpPr>
          <p:cNvPr id="17" name="Text 15"/>
          <p:cNvSpPr/>
          <p:nvPr/>
        </p:nvSpPr>
        <p:spPr>
          <a:xfrm>
            <a:off x="1438632" y="7005161"/>
            <a:ext cx="6987183" cy="317540"/>
          </a:xfrm>
          <a:prstGeom prst="rect">
            <a:avLst/>
          </a:prstGeom>
          <a:noFill/>
          <a:ln/>
        </p:spPr>
        <p:txBody>
          <a:bodyPr wrap="non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Cada pequeña acción fiel construye una vida de fe sólida.</a:t>
            </a:r>
            <a:endParaRPr lang="en-US" sz="1550" dirty="0"/>
          </a:p>
        </p:txBody>
      </p:sp>
      <p:pic>
        <p:nvPicPr>
          <p:cNvPr id="20" name="Imagen 19">
            <a:extLst>
              <a:ext uri="{FF2B5EF4-FFF2-40B4-BE49-F238E27FC236}">
                <a16:creationId xmlns:a16="http://schemas.microsoft.com/office/drawing/2014/main" id="{4F0E533E-4427-B6B0-929B-E3C337BF446C}"/>
              </a:ext>
            </a:extLst>
          </p:cNvPr>
          <p:cNvPicPr>
            <a:picLocks noChangeAspect="1"/>
          </p:cNvPicPr>
          <p:nvPr/>
        </p:nvPicPr>
        <p:blipFill>
          <a:blip r:embed="rId5"/>
          <a:stretch>
            <a:fillRect/>
          </a:stretch>
        </p:blipFill>
        <p:spPr>
          <a:xfrm>
            <a:off x="8819674" y="1835467"/>
            <a:ext cx="5096355" cy="3820475"/>
          </a:xfrm>
          <a:prstGeom prst="rect">
            <a:avLst/>
          </a:prstGeom>
        </p:spPr>
      </p:pic>
      <p:pic>
        <p:nvPicPr>
          <p:cNvPr id="21" name="lee">
            <a:hlinkClick r:id="" action="ppaction://media"/>
            <a:extLst>
              <a:ext uri="{FF2B5EF4-FFF2-40B4-BE49-F238E27FC236}">
                <a16:creationId xmlns:a16="http://schemas.microsoft.com/office/drawing/2014/main" id="{414B19E4-714A-5805-FB6E-0A5F38897FC2}"/>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3233989" y="5890387"/>
            <a:ext cx="682040" cy="12125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722"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1"/>
                </p:tgtEl>
              </p:cMediaNode>
            </p:video>
            <p:seq concurrent="1" nextAc="seek">
              <p:cTn id="8" restart="whenNotActive" fill="hold" evtFilter="cancelBubble" nodeType="interactiveSeq">
                <p:stCondLst>
                  <p:cond evt="onClick" delay="0">
                    <p:tgtEl>
                      <p:spTgt spid="2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1153358"/>
            <a:ext cx="1841897" cy="373142"/>
          </a:xfrm>
          <a:prstGeom prst="roundRect">
            <a:avLst>
              <a:gd name="adj" fmla="val 6383"/>
            </a:avLst>
          </a:prstGeom>
          <a:solidFill>
            <a:srgbClr val="082545"/>
          </a:solidFill>
          <a:ln/>
        </p:spPr>
      </p:sp>
      <p:sp>
        <p:nvSpPr>
          <p:cNvPr id="3" name="Text 1"/>
          <p:cNvSpPr/>
          <p:nvPr/>
        </p:nvSpPr>
        <p:spPr>
          <a:xfrm>
            <a:off x="912852" y="1212890"/>
            <a:ext cx="1603772" cy="254079"/>
          </a:xfrm>
          <a:prstGeom prst="rect">
            <a:avLst/>
          </a:prstGeom>
          <a:noFill/>
          <a:ln/>
        </p:spPr>
        <p:txBody>
          <a:bodyPr wrap="none" lIns="0" tIns="0" rIns="0" bIns="0" rtlCol="0" anchor="t"/>
          <a:lstStyle/>
          <a:p>
            <a:pPr marL="0" indent="0" algn="l">
              <a:lnSpc>
                <a:spcPts val="2000"/>
              </a:lnSpc>
              <a:buNone/>
            </a:pPr>
            <a:r>
              <a:rPr lang="en-US" sz="1250" dirty="0">
                <a:solidFill>
                  <a:srgbClr val="D6E5EF"/>
                </a:solidFill>
                <a:latin typeface="Roboto" pitchFamily="34" charset="0"/>
                <a:ea typeface="Roboto" pitchFamily="34" charset="-122"/>
                <a:cs typeface="Roboto" pitchFamily="34" charset="-120"/>
              </a:rPr>
              <a:t>CIERRE Y APLICACIÓN</a:t>
            </a:r>
            <a:endParaRPr lang="en-US" sz="1250" dirty="0"/>
          </a:p>
        </p:txBody>
      </p:sp>
      <p:sp>
        <p:nvSpPr>
          <p:cNvPr id="4" name="Text 2"/>
          <p:cNvSpPr/>
          <p:nvPr/>
        </p:nvSpPr>
        <p:spPr>
          <a:xfrm>
            <a:off x="793790" y="1605796"/>
            <a:ext cx="12399050" cy="620078"/>
          </a:xfrm>
          <a:prstGeom prst="rect">
            <a:avLst/>
          </a:prstGeom>
          <a:noFill/>
          <a:ln/>
        </p:spPr>
        <p:txBody>
          <a:bodyPr wrap="none" lIns="0" tIns="0" rIns="0" bIns="0" rtlCol="0" anchor="t"/>
          <a:lstStyle/>
          <a:p>
            <a:pPr marL="0" indent="0" algn="l">
              <a:lnSpc>
                <a:spcPts val="4850"/>
              </a:lnSpc>
              <a:buNone/>
            </a:pPr>
            <a:r>
              <a:rPr lang="en-US" sz="3900" dirty="0">
                <a:solidFill>
                  <a:srgbClr val="76B9FF"/>
                </a:solidFill>
                <a:latin typeface="Roboto Slab" pitchFamily="34" charset="0"/>
                <a:ea typeface="Roboto Slab" pitchFamily="34" charset="-122"/>
                <a:cs typeface="Roboto Slab" pitchFamily="34" charset="-120"/>
              </a:rPr>
              <a:t>El maná cae cada día, pero solo lo recibe quien confía</a:t>
            </a:r>
            <a:endParaRPr lang="en-US" sz="3900" dirty="0"/>
          </a:p>
        </p:txBody>
      </p:sp>
      <p:sp>
        <p:nvSpPr>
          <p:cNvPr id="5" name="Text 3"/>
          <p:cNvSpPr/>
          <p:nvPr/>
        </p:nvSpPr>
        <p:spPr>
          <a:xfrm>
            <a:off x="793790" y="2523530"/>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D6E5EF"/>
                </a:solidFill>
                <a:latin typeface="Roboto" pitchFamily="34" charset="0"/>
                <a:ea typeface="Roboto" pitchFamily="34" charset="-122"/>
                <a:cs typeface="Roboto" pitchFamily="34" charset="-120"/>
              </a:rPr>
              <a:t>Verdad central:</a:t>
            </a:r>
            <a:r>
              <a:rPr lang="en-US" sz="1550" dirty="0">
                <a:solidFill>
                  <a:srgbClr val="D6E5EF"/>
                </a:solidFill>
                <a:latin typeface="Roboto" pitchFamily="34" charset="0"/>
                <a:ea typeface="Roboto" pitchFamily="34" charset="-122"/>
                <a:cs typeface="Roboto" pitchFamily="34" charset="-120"/>
              </a:rPr>
              <a:t> Dios provee lo necesario cada día, tanto físico como espiritual. Cristo es el verdadero pan del cielo, y su provisión está disponible para quien confía y actúa con fe diariamente.</a:t>
            </a:r>
            <a:endParaRPr lang="en-US" sz="1550" dirty="0"/>
          </a:p>
        </p:txBody>
      </p:sp>
      <p:sp>
        <p:nvSpPr>
          <p:cNvPr id="6" name="Shape 4"/>
          <p:cNvSpPr/>
          <p:nvPr/>
        </p:nvSpPr>
        <p:spPr>
          <a:xfrm>
            <a:off x="793790" y="3679508"/>
            <a:ext cx="4215289" cy="2409349"/>
          </a:xfrm>
          <a:prstGeom prst="roundRect">
            <a:avLst>
              <a:gd name="adj" fmla="val 4554"/>
            </a:avLst>
          </a:prstGeom>
          <a:solidFill>
            <a:srgbClr val="202733"/>
          </a:solidFill>
          <a:ln/>
        </p:spPr>
      </p:sp>
      <p:pic>
        <p:nvPicPr>
          <p:cNvPr id="7" name="Image 0" descr="preencoded.png"/>
          <p:cNvPicPr>
            <a:picLocks noChangeAspect="1"/>
          </p:cNvPicPr>
          <p:nvPr/>
        </p:nvPicPr>
        <p:blipFill>
          <a:blip r:embed="rId3"/>
          <a:stretch>
            <a:fillRect/>
          </a:stretch>
        </p:blipFill>
        <p:spPr>
          <a:xfrm>
            <a:off x="793790" y="3656648"/>
            <a:ext cx="4215289" cy="91440"/>
          </a:xfrm>
          <a:prstGeom prst="rect">
            <a:avLst/>
          </a:prstGeom>
        </p:spPr>
      </p:pic>
      <p:pic>
        <p:nvPicPr>
          <p:cNvPr id="8" name="Image 1" descr="preencoded.png"/>
          <p:cNvPicPr>
            <a:picLocks noChangeAspect="1"/>
          </p:cNvPicPr>
          <p:nvPr/>
        </p:nvPicPr>
        <p:blipFill>
          <a:blip r:embed="rId4"/>
          <a:stretch>
            <a:fillRect/>
          </a:stretch>
        </p:blipFill>
        <p:spPr>
          <a:xfrm>
            <a:off x="2603778" y="3381851"/>
            <a:ext cx="595313" cy="595313"/>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82372" y="3560445"/>
            <a:ext cx="238125" cy="238125"/>
          </a:xfrm>
          <a:prstGeom prst="rect">
            <a:avLst/>
          </a:prstGeom>
        </p:spPr>
      </p:pic>
      <p:sp>
        <p:nvSpPr>
          <p:cNvPr id="10" name="Text 5"/>
          <p:cNvSpPr/>
          <p:nvPr/>
        </p:nvSpPr>
        <p:spPr>
          <a:xfrm>
            <a:off x="1015008" y="4175641"/>
            <a:ext cx="3772853" cy="620316"/>
          </a:xfrm>
          <a:prstGeom prst="rect">
            <a:avLst/>
          </a:prstGeom>
          <a:noFill/>
          <a:ln/>
        </p:spPr>
        <p:txBody>
          <a:bodyPr wrap="squar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¿Qué maná espiritual necesitás hoy?</a:t>
            </a:r>
            <a:endParaRPr lang="en-US" sz="1950" dirty="0"/>
          </a:p>
        </p:txBody>
      </p:sp>
      <p:sp>
        <p:nvSpPr>
          <p:cNvPr id="11" name="Text 6"/>
          <p:cNvSpPr/>
          <p:nvPr/>
        </p:nvSpPr>
        <p:spPr>
          <a:xfrm>
            <a:off x="1015008" y="4915019"/>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Identifica qué área de tu vida espiritual necesita alimento urgente: oración, Escrituras, servicio, adoración.</a:t>
            </a:r>
            <a:endParaRPr lang="en-US" sz="1550" dirty="0"/>
          </a:p>
        </p:txBody>
      </p:sp>
      <p:sp>
        <p:nvSpPr>
          <p:cNvPr id="12" name="Shape 7"/>
          <p:cNvSpPr/>
          <p:nvPr/>
        </p:nvSpPr>
        <p:spPr>
          <a:xfrm>
            <a:off x="5207437" y="3679508"/>
            <a:ext cx="4215408" cy="2409349"/>
          </a:xfrm>
          <a:prstGeom prst="roundRect">
            <a:avLst>
              <a:gd name="adj" fmla="val 4554"/>
            </a:avLst>
          </a:prstGeom>
          <a:solidFill>
            <a:srgbClr val="202733"/>
          </a:solidFill>
          <a:ln/>
        </p:spPr>
      </p:sp>
      <p:pic>
        <p:nvPicPr>
          <p:cNvPr id="13" name="Image 3" descr="preencoded.png"/>
          <p:cNvPicPr>
            <a:picLocks noChangeAspect="1"/>
          </p:cNvPicPr>
          <p:nvPr/>
        </p:nvPicPr>
        <p:blipFill>
          <a:blip r:embed="rId3"/>
          <a:stretch>
            <a:fillRect/>
          </a:stretch>
        </p:blipFill>
        <p:spPr>
          <a:xfrm>
            <a:off x="5207437" y="3656648"/>
            <a:ext cx="4215408" cy="91440"/>
          </a:xfrm>
          <a:prstGeom prst="rect">
            <a:avLst/>
          </a:prstGeom>
        </p:spPr>
      </p:pic>
      <p:pic>
        <p:nvPicPr>
          <p:cNvPr id="14" name="Image 4" descr="preencoded.png"/>
          <p:cNvPicPr>
            <a:picLocks noChangeAspect="1"/>
          </p:cNvPicPr>
          <p:nvPr/>
        </p:nvPicPr>
        <p:blipFill>
          <a:blip r:embed="rId4"/>
          <a:stretch>
            <a:fillRect/>
          </a:stretch>
        </p:blipFill>
        <p:spPr>
          <a:xfrm>
            <a:off x="7017425" y="3381851"/>
            <a:ext cx="595313" cy="595313"/>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96018" y="3560445"/>
            <a:ext cx="238125" cy="238125"/>
          </a:xfrm>
          <a:prstGeom prst="rect">
            <a:avLst/>
          </a:prstGeom>
        </p:spPr>
      </p:pic>
      <p:sp>
        <p:nvSpPr>
          <p:cNvPr id="16" name="Text 8"/>
          <p:cNvSpPr/>
          <p:nvPr/>
        </p:nvSpPr>
        <p:spPr>
          <a:xfrm>
            <a:off x="5428655" y="4175641"/>
            <a:ext cx="3772972" cy="620316"/>
          </a:xfrm>
          <a:prstGeom prst="rect">
            <a:avLst/>
          </a:prstGeom>
          <a:noFill/>
          <a:ln/>
        </p:spPr>
        <p:txBody>
          <a:bodyPr wrap="squar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¿Qué hábito diario vas a fortalecer?</a:t>
            </a:r>
            <a:endParaRPr lang="en-US" sz="1950" dirty="0"/>
          </a:p>
        </p:txBody>
      </p:sp>
      <p:sp>
        <p:nvSpPr>
          <p:cNvPr id="17" name="Text 9"/>
          <p:cNvSpPr/>
          <p:nvPr/>
        </p:nvSpPr>
        <p:spPr>
          <a:xfrm>
            <a:off x="5428655" y="4915019"/>
            <a:ext cx="3772972" cy="95261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Elige una práctica concreta que puedas sostener cada día, por pequeña que sea. La constancia transforma.</a:t>
            </a:r>
            <a:endParaRPr lang="en-US" sz="1550" dirty="0"/>
          </a:p>
        </p:txBody>
      </p:sp>
      <p:sp>
        <p:nvSpPr>
          <p:cNvPr id="18" name="Shape 10"/>
          <p:cNvSpPr/>
          <p:nvPr/>
        </p:nvSpPr>
        <p:spPr>
          <a:xfrm>
            <a:off x="9621203" y="3679508"/>
            <a:ext cx="4215289" cy="2409349"/>
          </a:xfrm>
          <a:prstGeom prst="roundRect">
            <a:avLst>
              <a:gd name="adj" fmla="val 4554"/>
            </a:avLst>
          </a:prstGeom>
          <a:solidFill>
            <a:srgbClr val="202733"/>
          </a:solidFill>
          <a:ln/>
        </p:spPr>
      </p:sp>
      <p:pic>
        <p:nvPicPr>
          <p:cNvPr id="19" name="Image 6" descr="preencoded.png"/>
          <p:cNvPicPr>
            <a:picLocks noChangeAspect="1"/>
          </p:cNvPicPr>
          <p:nvPr/>
        </p:nvPicPr>
        <p:blipFill>
          <a:blip r:embed="rId3"/>
          <a:stretch>
            <a:fillRect/>
          </a:stretch>
        </p:blipFill>
        <p:spPr>
          <a:xfrm>
            <a:off x="9621203" y="3656648"/>
            <a:ext cx="4215289" cy="91440"/>
          </a:xfrm>
          <a:prstGeom prst="rect">
            <a:avLst/>
          </a:prstGeom>
        </p:spPr>
      </p:pic>
      <p:pic>
        <p:nvPicPr>
          <p:cNvPr id="20" name="Image 7" descr="preencoded.png"/>
          <p:cNvPicPr>
            <a:picLocks noChangeAspect="1"/>
          </p:cNvPicPr>
          <p:nvPr/>
        </p:nvPicPr>
        <p:blipFill>
          <a:blip r:embed="rId4"/>
          <a:stretch>
            <a:fillRect/>
          </a:stretch>
        </p:blipFill>
        <p:spPr>
          <a:xfrm>
            <a:off x="11431191" y="3381851"/>
            <a:ext cx="595313" cy="595313"/>
          </a:xfrm>
          <a:prstGeom prst="rect">
            <a:avLst/>
          </a:prstGeom>
        </p:spPr>
      </p:pic>
      <p:pic>
        <p:nvPicPr>
          <p:cNvPr id="21" name="Image 8"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609784" y="3560445"/>
            <a:ext cx="238125" cy="238125"/>
          </a:xfrm>
          <a:prstGeom prst="rect">
            <a:avLst/>
          </a:prstGeom>
        </p:spPr>
      </p:pic>
      <p:sp>
        <p:nvSpPr>
          <p:cNvPr id="22" name="Text 11"/>
          <p:cNvSpPr/>
          <p:nvPr/>
        </p:nvSpPr>
        <p:spPr>
          <a:xfrm>
            <a:off x="9842421" y="4175641"/>
            <a:ext cx="3772853" cy="620316"/>
          </a:xfrm>
          <a:prstGeom prst="rect">
            <a:avLst/>
          </a:prstGeom>
          <a:noFill/>
          <a:ln/>
        </p:spPr>
        <p:txBody>
          <a:bodyPr wrap="square" lIns="0" tIns="0" rIns="0" bIns="0" rtlCol="0" anchor="t"/>
          <a:lstStyle/>
          <a:p>
            <a:pPr marL="0" indent="0" algn="l">
              <a:lnSpc>
                <a:spcPts val="2400"/>
              </a:lnSpc>
              <a:buNone/>
            </a:pPr>
            <a:r>
              <a:rPr lang="en-US" sz="1950" dirty="0">
                <a:solidFill>
                  <a:srgbClr val="D6E5EF"/>
                </a:solidFill>
                <a:latin typeface="Roboto Slab" pitchFamily="34" charset="0"/>
                <a:ea typeface="Roboto Slab" pitchFamily="34" charset="-122"/>
                <a:cs typeface="Roboto Slab" pitchFamily="34" charset="-120"/>
              </a:rPr>
              <a:t>¿Cómo vas a evitar la murmuración y elegir la fe?</a:t>
            </a:r>
            <a:endParaRPr lang="en-US" sz="1950" dirty="0"/>
          </a:p>
        </p:txBody>
      </p:sp>
      <p:sp>
        <p:nvSpPr>
          <p:cNvPr id="23" name="Text 12"/>
          <p:cNvSpPr/>
          <p:nvPr/>
        </p:nvSpPr>
        <p:spPr>
          <a:xfrm>
            <a:off x="9842421" y="4915019"/>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D6E5EF"/>
                </a:solidFill>
                <a:latin typeface="Roboto" pitchFamily="34" charset="0"/>
                <a:ea typeface="Roboto" pitchFamily="34" charset="-122"/>
                <a:cs typeface="Roboto" pitchFamily="34" charset="-120"/>
              </a:rPr>
              <a:t>Cuando llegue la prueba, recuerda: Dios ya proveyó antes y volverá a proveer. La queja cierra los ojos a sus bendiciones.</a:t>
            </a:r>
            <a:endParaRPr lang="en-US" sz="1550" dirty="0"/>
          </a:p>
        </p:txBody>
      </p:sp>
      <p:sp>
        <p:nvSpPr>
          <p:cNvPr id="24" name="Text 13"/>
          <p:cNvSpPr/>
          <p:nvPr/>
        </p:nvSpPr>
        <p:spPr>
          <a:xfrm>
            <a:off x="1091446" y="6535341"/>
            <a:ext cx="12745164" cy="317540"/>
          </a:xfrm>
          <a:prstGeom prst="rect">
            <a:avLst/>
          </a:prstGeom>
          <a:noFill/>
          <a:ln/>
        </p:spPr>
        <p:txBody>
          <a:bodyPr wrap="none" lIns="0" tIns="0" rIns="0" bIns="0" rtlCol="0" anchor="t"/>
          <a:lstStyle/>
          <a:p>
            <a:pPr marL="0" indent="0" algn="l">
              <a:lnSpc>
                <a:spcPts val="2500"/>
              </a:lnSpc>
              <a:buNone/>
            </a:pPr>
            <a:r>
              <a:rPr lang="en-US" sz="1550" b="1" dirty="0">
                <a:solidFill>
                  <a:srgbClr val="D6E5EF"/>
                </a:solidFill>
                <a:latin typeface="Roboto" pitchFamily="34" charset="0"/>
                <a:ea typeface="Roboto" pitchFamily="34" charset="-122"/>
                <a:cs typeface="Roboto" pitchFamily="34" charset="-120"/>
              </a:rPr>
              <a:t>«El maná cae cada día, pero solo lo recibe quien confía.»</a:t>
            </a:r>
            <a:endParaRPr lang="en-US" sz="1550" dirty="0"/>
          </a:p>
        </p:txBody>
      </p:sp>
      <p:sp>
        <p:nvSpPr>
          <p:cNvPr id="25" name="Shape 14"/>
          <p:cNvSpPr/>
          <p:nvPr/>
        </p:nvSpPr>
        <p:spPr>
          <a:xfrm>
            <a:off x="793790" y="6312098"/>
            <a:ext cx="22860" cy="764024"/>
          </a:xfrm>
          <a:prstGeom prst="rect">
            <a:avLst/>
          </a:prstGeom>
          <a:solidFill>
            <a:srgbClr val="66A8EE"/>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1205</Words>
  <Application>Microsoft Office PowerPoint</Application>
  <PresentationFormat>Personalizado</PresentationFormat>
  <Paragraphs>104</Paragraphs>
  <Slides>10</Slides>
  <Notes>10</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Roboto Slab</vt:lpstr>
      <vt:lpstr>Arial</vt:lpstr>
      <vt:lpstr>Roboto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jose angel aponte</cp:lastModifiedBy>
  <cp:revision>3</cp:revision>
  <dcterms:created xsi:type="dcterms:W3CDTF">2026-04-08T16:38:29Z</dcterms:created>
  <dcterms:modified xsi:type="dcterms:W3CDTF">2026-04-14T15:42:32Z</dcterms:modified>
</cp:coreProperties>
</file>